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2"/>
  </p:notesMasterIdLst>
  <p:sldIdLst>
    <p:sldId id="305" r:id="rId2"/>
    <p:sldId id="335" r:id="rId3"/>
    <p:sldId id="281" r:id="rId4"/>
    <p:sldId id="313" r:id="rId5"/>
    <p:sldId id="260" r:id="rId6"/>
    <p:sldId id="258" r:id="rId7"/>
    <p:sldId id="263" r:id="rId8"/>
    <p:sldId id="330" r:id="rId9"/>
    <p:sldId id="315" r:id="rId10"/>
    <p:sldId id="265" r:id="rId11"/>
    <p:sldId id="285" r:id="rId12"/>
    <p:sldId id="288" r:id="rId13"/>
    <p:sldId id="289" r:id="rId14"/>
    <p:sldId id="291" r:id="rId15"/>
    <p:sldId id="290" r:id="rId16"/>
    <p:sldId id="292" r:id="rId17"/>
    <p:sldId id="267" r:id="rId18"/>
    <p:sldId id="282" r:id="rId19"/>
    <p:sldId id="314" r:id="rId20"/>
    <p:sldId id="279" r:id="rId21"/>
    <p:sldId id="333" r:id="rId22"/>
    <p:sldId id="272" r:id="rId23"/>
    <p:sldId id="317" r:id="rId24"/>
    <p:sldId id="269" r:id="rId25"/>
    <p:sldId id="321" r:id="rId26"/>
    <p:sldId id="318" r:id="rId27"/>
    <p:sldId id="274" r:id="rId28"/>
    <p:sldId id="323" r:id="rId29"/>
    <p:sldId id="277" r:id="rId30"/>
    <p:sldId id="271" r:id="rId31"/>
  </p:sldIdLst>
  <p:sldSz cx="9144000" cy="5143500" type="screen16x9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99"/>
    <a:srgbClr val="77777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4AB9341-2C3B-7400-E4CA-8A5EEB3A738A}" v="139" dt="2025-04-30T14:06:21.098"/>
    <p1510:client id="{DDC48115-ECE3-499B-9511-3FF61612F2A2}" v="8" dt="2025-04-30T14:47:46.302"/>
  </p1510:revLst>
</p1510:revInfo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  <a:nwCell>
      <a:tcStyle>
        <a:tcBdr/>
      </a:tcStyle>
    </a:nw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  <a:nwCell>
      <a:tcStyle>
        <a:tcBdr/>
      </a:tcStyle>
    </a:nwCell>
  </a:tblStyle>
  <a:tblStyle styleId="{5C22544A-7EE6-4342-B048-85BDC9FD1C3A}" styleName="Medium Style 2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scrgbClr r="0" g="0" b="0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  <a:nwCell>
      <a:tcStyle>
        <a:tcBdr/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45" autoAdjust="0"/>
    <p:restoredTop sz="89710" autoAdjust="0"/>
  </p:normalViewPr>
  <p:slideViewPr>
    <p:cSldViewPr>
      <p:cViewPr varScale="1">
        <p:scale>
          <a:sx n="84" d="100"/>
          <a:sy n="84" d="100"/>
        </p:scale>
        <p:origin x="808" y="5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2216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8" d="100"/>
          <a:sy n="88" d="100"/>
        </p:scale>
        <p:origin x="-3870" y="-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1920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80" units="1/cm"/>
          <inkml:channelProperty channel="Y" name="resolution" value="40" units="1/cm"/>
          <inkml:channelProperty channel="T" name="resolution" value="1" units="1/dev"/>
        </inkml:channelProperties>
      </inkml:inkSource>
      <inkml:timestamp xml:id="ts0" timeString="2020-06-29T15:28:05.71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23164 10914 0,'-66'-40'0,"0"27"0,-53-27 0,26 27 15,-13 13-15,-92-13 16,-27-13-16,-26-14 16,13 40-16,0 13 15,-27-13-15,67 27 16,-54-27 0,80 26-16,-13 0 15,39 1-15,1-14 16,66-13-16,-27 27 15,13-1-15,1 1 16,52 12-16,-13-26 16,26 67-16,1-54 15,13 1-15,13 26 16,0 0-16,-13-40 16,13 40-16,0 0 15,0-14-15,0-12 16,0 39-16,0 0 15,0 27-15,26 26 16,0 39-16,27 1 16,0-40-16,0 66 15,27-65 1,-28 38-16,28 1 16,-1-40-16,-13-40 15,1-12-15,12 12 16,-26-26-16,26 0 15,-26-27-15,26 1 16,14 26-16,0-40 16,26 0-16,0 27 15,13-14-15,0 1 16,-13-27-16,-52 0 16,12 0-16,-53 0 15,27 0-15,-39 0 16,-1 0-16,13 0 15,1 13 1,12-13-16,-25 0 16,39 0-16,-1 0 15,-12 0-15,53 13 16,-1 14-16,1-27 16,-27 13-1,27-13-15,-27 0 16,0 0-16,-13-13 15,0-1-15,26 1 16,-26-13-16,0 26 16,13-40-16,27 14 15,66-14-15,-67 27 16,67-1-16,-53 1 16,13-40-16,0 14 15,-40 25-15,1-52 16,-27 40-16,-27-1 15,0-26-15,14-13 16,-40 13-16,0-13 16,27 27-16,-14 12 15,-13-13-15,13 1 16,14-1-16,-1-13 16,-13 27-16,14-14 15,-1 0 1,1-26-16,-14 26 15,0-26-15,14 13 16,-27-39-16,26 39 16,-13 26-16,0-12 15,1 39-15,-14-40 16,0 27-16,0-27 16,0 0-16,-14-13 15,1 1-15,-26 25 16,-1-39-16,-26 13 15,0-13-15,13 26 16,0 14-16,0-1 16,-27 14-16,41 0 15,-27-14-15,-40 1 16,26-1-16,-12 1 16,39 0-16,0 12 15,13 28-15,14-28 16,26 1-1</inkml:trace>
  <inkml:trace contextRef="#ctx0" brushRef="#br0" timeOffset="1385.83">18891 9737 0,'-13'-27'0,"26"54"0,-79-80 15,-13 26-15,-40-12 16,0 12-16,-67-105 15,14 92-15,-79 0 16,26 1 0,27 39-16,-40-13 15,39-27-15,1 40 16,-1 0-16,41 0 16,12 0-16,14 0 15,39 0-15,14 13 16,66 0-16,-40 14 15,26 26-15,-13-14 16,14 14-16,0 13 16,-1 1-16,1 12 15,12 27-15,14 26 16,-13 14-16,13 26 16,0-27-16,13 1 15,27-14-15,26 13 16,0-12-16,27 12 15,13-26-15,39 27 16,1-14-16,-1-39 16,41 13-1,-28-14-15,1-39 16,26 13-16,-39 14 16,-14-54-16,14 53 15,-41-65-15,15-1 16,25-13-16,-26-13 15,27-27-15,26-13 16,-27-79-16,1 26 16,-80-53-16,26 14 15,-25 12-15,25-12 16,-39 52-16,13 14 16,-39 0-16,-14 39 15,13-26-15,-26 0 16,14 13-16,-14-14 15,0 28-15,0-27 16,-14 26 0,-12-13-16,13 13 15,-1 14-15,14-1 16,-13 14 0,13 0-1,0 0 1,0-14-1,0 1-15,0-1 16,-13 1 0,0 13-16,13-1 15,0 1-15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6701" units="1/cm"/>
          <inkml:channelProperty channel="T" name="resolution" value="1" units="1/dev"/>
        </inkml:channelProperties>
      </inkml:inkSource>
      <inkml:timestamp xml:id="ts0" timeString="2026-05-06T18:37:40.68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2553 9803 0,'93'0'109,"132"0"-93,119 0 0,-27 0-1,-13 0 1,-132 79-1,80-119 17,-80 40-17,-80-26-15,14 26 16,13 0 0,-66 0-16,27 0 15,-14 0 1,66 0 15,-13-26 0,27 26-15,52 0 15,80 0 16,-80 0-31,-105 0-1</inkml:trace>
  <inkml:trace contextRef="#ctx0" brushRef="#br0" timeOffset="6562.33">16192 9856 0,'14'0'47,"144"0"-32,557 0 17,-239 0-17,291 0 17,-171 0-17,-305 0-15,555 0 31,200 26 1,-583-26-17,-67 0 1,226 27 15,-423-27-15,26 0 15,-120 0-15,-12 0-1,-14 0 1,-52 0-16,65 0 31,-65 0-15,-1 0 62</inkml:trace>
  <inkml:trace contextRef="#ctx0" brushRef="#br0" timeOffset="17407.3">15981 8731 0,'79'0'94,"53"0"-78,411 0-1,-279 0 1,636 0 0,-622 0-1,635 0 1,-622 0-1,582-26 1,-569-1 0,556 27-1,331 0 17,-715-26-17,-225 26 1,-79 0-1,344 0 1,-291 0 0,-146 0-16,93 0 31,-132 0-15,145 13-1,-66-13 1,-92 0-1,39-13 1,-66 53 93,53 184-77,-53-131-32,0 211 31,0-158-15,0-14-1,0-39 1,26-40-1,1 66 1,-27-13 0,0-14-1,0-12 1,26-28 0,-26-38 62,-92-14-63,-133 0 1,-146 0 0,-92 0-1,-119 0 1,13 0-1,133 0 1,-411 0 15,477 0-15,-384 0 15,410 0-15,-27 0-1,80 0 1,133 26 0,-81-26-1,-12 0 1,-27 27 0,27-27-1,13-14 1,13 28-1,53-14 1,92 0-16,1 26 16,-212-39 15,119 13-15,-251-27 15,198 27-16,-53 0 17,238 0-17,14-26 32,-27 26-31,27 0 15,-27-27 32,39-12-48,-12-133 1,-53 13 15,52 40-15,27 66-16,0 27 15,13-67 1,-13 40-16,0-92 31,0 65-15,0 54-1,0-67 1,0 40 0,-13-39 15,13 65-15,0 1-1,0-1 16,0-26-15,0 27-16,0-14 31,13 14-15,40 26 125,40-80-126,13 54 1,-80 26-1,40 0 1,14-27 0,-27 27-1,13 0 1,-40 0-16,1 0 31,26 40 344,-53 13-344</inkml:trace>
  <inkml:trace contextRef="#ctx0" brushRef="#br0" timeOffset="25860.12">15174 7408 0,'40'0'16,"237"-13"15,266 13-16,-67-26 17,-397 26-17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  <a:extLst/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  <a:extLst/>
          </a:lstStyle>
          <a:p>
            <a:pPr>
              <a:defRPr/>
            </a:pPr>
            <a:fld id="{7BCEB1FD-DB0E-4860-9616-88A42D382A5E}" type="datetimeFigureOut">
              <a:rPr lang="en-US"/>
              <a:pPr>
                <a:defRPr/>
              </a:pPr>
              <a:t>5/6/2026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  <a:extLst/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  <a:extLst/>
          </a:lstStyle>
          <a:p>
            <a:pPr>
              <a:defRPr/>
            </a:pPr>
            <a:fld id="{A2ECE86C-C9C5-4D1D-9E1E-93F7A14018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>
      <a:defRPr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433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CA"/>
          </a:p>
        </p:txBody>
      </p:sp>
      <p:sp>
        <p:nvSpPr>
          <p:cNvPr id="13315" name="Slide Number Placeholder 3"/>
          <p:cNvSpPr>
            <a:spLocks noGrp="1"/>
          </p:cNvSpPr>
          <p:nvPr>
            <p:ph type="sldNum" sz="quarter" idx="5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7CBC4A6-519C-4A1A-B9AC-64FBEB4F6490}" type="slidenum">
              <a:rPr lang="en-US">
                <a:cs typeface="Arial" charset="0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1</a:t>
            </a:fld>
            <a:endParaRPr lang="en-US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1869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http://advancedesl.files.wordpress.com/2011/01/15.jpg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ECE86C-C9C5-4D1D-9E1E-93F7A1401812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http://advancedesl.files.wordpress.com/2011/01/15.jpg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ECE86C-C9C5-4D1D-9E1E-93F7A1401812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0246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http://hinglecoaching.com/images/mission%20man2.jpg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ECE86C-C9C5-4D1D-9E1E-93F7A1401812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http://www.thestar.com/content/dam/thestar/entertainment/music/2013/11/07/oscar_peterson_award_to_be_handed_out_at_york_u_gala/oscar_peterson.jpg</a:t>
            </a:r>
          </a:p>
          <a:p>
            <a:r>
              <a:rPr lang="en-CA" dirty="0"/>
              <a:t>http://www.parkinggaragepolitics.com/wp-content/uploads/2013/03/Glenn-Gould-Source-Unknown.jpg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ECE86C-C9C5-4D1D-9E1E-93F7A1401812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http://i.cdn.turner.com/si/multimedia/photo_gallery/1004/revolutionary.moments.in.sports/images/wayne-gretzky.jpg</a:t>
            </a:r>
          </a:p>
          <a:p>
            <a:r>
              <a:rPr lang="en-CA" dirty="0"/>
              <a:t>http://www.bobbyorrcollector.com/wp-content/uploads/2011/11/img165-784x1024.jpg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ECE86C-C9C5-4D1D-9E1E-93F7A140181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http://images.amazon.com/images/G/01/toys/detail-page/c26-B00804BDE0-1-l.jpg</a:t>
            </a:r>
          </a:p>
          <a:p>
            <a:r>
              <a:rPr lang="en-CA" dirty="0"/>
              <a:t>https://img1.etsystatic.com/000/0/6308893/il_fullxfull.305981903.jpg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ECE86C-C9C5-4D1D-9E1E-93F7A140181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44"/>
          <p:cNvSpPr/>
          <p:nvPr/>
        </p:nvSpPr>
        <p:spPr>
          <a:xfrm>
            <a:off x="107505" y="301229"/>
            <a:ext cx="8760272" cy="665559"/>
          </a:xfrm>
          <a:prstGeom prst="rect">
            <a:avLst/>
          </a:prstGeom>
          <a:solidFill>
            <a:schemeClr val="bg2">
              <a:alpha val="50000"/>
              <a:satMod val="18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533400" y="348378"/>
            <a:ext cx="8153400" cy="580644"/>
          </a:xfrm>
        </p:spPr>
        <p:txBody>
          <a:bodyPr/>
          <a:lstStyle>
            <a:lvl1pPr marR="9144" algn="r">
              <a:defRPr sz="3800"/>
            </a:lvl1pPr>
            <a:extLst/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4838382" y="1028700"/>
            <a:ext cx="3848419" cy="342900"/>
          </a:xfrm>
        </p:spPr>
        <p:txBody>
          <a:bodyPr tIns="0"/>
          <a:lstStyle>
            <a:lvl1pPr marL="0" indent="0" algn="r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fld id="{2FA6D7D0-4015-4073-A1C6-39376A1256AD}" type="datetimeFigureOut">
              <a:rPr lang="en-US"/>
              <a:pPr>
                <a:defRPr/>
              </a:pPr>
              <a:t>5/6/2026</a:t>
            </a:fld>
            <a:endParaRPr lang="en-US"/>
          </a:p>
        </p:txBody>
      </p:sp>
      <p:sp>
        <p:nvSpPr>
          <p:cNvPr id="29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107504" y="4812507"/>
            <a:ext cx="6369496" cy="273844"/>
          </a:xfrm>
        </p:spPr>
        <p:txBody>
          <a:bodyPr/>
          <a:lstStyle>
            <a:lvl1pPr>
              <a:defRPr dirty="0"/>
            </a:lvl1pPr>
            <a:extLst/>
          </a:lstStyle>
          <a:p>
            <a:pPr>
              <a:defRPr/>
            </a:pPr>
            <a:endParaRPr lang="en-US" dirty="0"/>
          </a:p>
        </p:txBody>
      </p:sp>
      <p:sp>
        <p:nvSpPr>
          <p:cNvPr id="30" name="Slide Number Placeholder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fld id="{0A199010-2CDB-45D7-9BFA-3942C7FD5F4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EB5A19-BA4C-405B-BF47-C41F047EE646}" type="datetimeFigureOut">
              <a:rPr lang="en-US"/>
              <a:pPr>
                <a:defRPr/>
              </a:pPr>
              <a:t>5/6/2026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2BBC5F-1A6D-44B7-9D75-5285C252FAA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504" y="2514600"/>
            <a:ext cx="8579296" cy="1480544"/>
          </a:xfrm>
        </p:spPr>
        <p:txBody>
          <a:bodyPr anchor="b">
            <a:scene3d>
              <a:camera prst="orthographicFront">
                <a:rot lat="0" lon="0" rev="0"/>
              </a:camera>
              <a:lightRig rig="contrasting" dir="t">
                <a:rot lat="0" lon="0" rev="7500000"/>
              </a:lightRig>
            </a:scene3d>
            <a:sp3d contourW="6350" prstMaterial="metal">
              <a:bevelT w="130810" h="31750" prst="relaxedInset"/>
              <a:contourClr>
                <a:schemeClr val="accent1">
                  <a:shade val="75000"/>
                </a:schemeClr>
              </a:contourClr>
            </a:sp3d>
          </a:bodyPr>
          <a:lstStyle>
            <a:lvl1pPr algn="l">
              <a:buNone/>
              <a:defRPr lang="en-US" sz="4000" b="1" cap="all" dirty="0">
                <a:ln/>
                <a:solidFill>
                  <a:schemeClr val="tx1"/>
                </a:solidFill>
                <a:effectLst>
                  <a:reflection blurRad="12700" stA="50000" endPos="50000" dir="5400000" sy="-100000" rotWithShape="0"/>
                </a:effectLst>
              </a:defRPr>
            </a:lvl1pPr>
            <a:extLst/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4000500"/>
            <a:ext cx="7772400" cy="789384"/>
          </a:xfrm>
        </p:spPr>
        <p:txBody>
          <a:bodyPr/>
          <a:lstStyle>
            <a:lvl1pPr marL="374904">
              <a:buNone/>
              <a:defRPr sz="200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fld id="{2186D01C-3E9D-47BB-98C8-E1B16D9DD67B}" type="datetimeFigureOut">
              <a:rPr lang="en-US"/>
              <a:pPr>
                <a:defRPr/>
              </a:pPr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1520" y="4818314"/>
            <a:ext cx="6225480" cy="273844"/>
          </a:xfrm>
        </p:spPr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fld id="{A285676A-4A70-4C47-A142-27078069A5F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8"/>
          <p:cNvCxnSpPr/>
          <p:nvPr/>
        </p:nvCxnSpPr>
        <p:spPr>
          <a:xfrm rot="5400000">
            <a:off x="2729359" y="2902223"/>
            <a:ext cx="3400425" cy="3175"/>
          </a:xfrm>
          <a:prstGeom prst="lin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504" y="157163"/>
            <a:ext cx="8579296" cy="971550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7504" y="1203598"/>
            <a:ext cx="4193952" cy="3394472"/>
          </a:xfrm>
        </p:spPr>
        <p:txBody>
          <a:bodyPr/>
          <a:lstStyle>
            <a:lvl1pPr marL="0" indent="0">
              <a:buFontTx/>
              <a:buNone/>
              <a:defRPr sz="20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0" y="1203598"/>
            <a:ext cx="4193952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fld id="{CBAC5977-34C1-409B-8D16-70BF88EB44D6}" type="datetimeFigureOut">
              <a:rPr lang="en-US"/>
              <a:pPr>
                <a:defRPr/>
              </a:pPr>
              <a:t>5/6/2026</a:t>
            </a:fld>
            <a:endParaRPr lang="en-US"/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7504" y="4812507"/>
            <a:ext cx="6369496" cy="273844"/>
          </a:xfrm>
        </p:spPr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endParaRPr lang="en-US" dirty="0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fld id="{19973750-AA1B-4955-ABCB-59ECAF29E5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2"/>
          <p:cNvSpPr/>
          <p:nvPr/>
        </p:nvSpPr>
        <p:spPr>
          <a:xfrm>
            <a:off x="0" y="301229"/>
            <a:ext cx="8686800" cy="665559"/>
          </a:xfrm>
          <a:prstGeom prst="rect">
            <a:avLst/>
          </a:prstGeom>
          <a:solidFill>
            <a:schemeClr val="bg2">
              <a:alpha val="50000"/>
              <a:satMod val="18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Rectangle 15"/>
          <p:cNvSpPr/>
          <p:nvPr/>
        </p:nvSpPr>
        <p:spPr>
          <a:xfrm>
            <a:off x="87314" y="510779"/>
            <a:ext cx="46037" cy="273844"/>
          </a:xfrm>
          <a:prstGeom prst="rect">
            <a:avLst/>
          </a:prstGeom>
          <a:solidFill>
            <a:schemeClr val="bg2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" name="Rectangle 16"/>
          <p:cNvSpPr/>
          <p:nvPr/>
        </p:nvSpPr>
        <p:spPr>
          <a:xfrm>
            <a:off x="47625" y="510779"/>
            <a:ext cx="26988" cy="273844"/>
          </a:xfrm>
          <a:prstGeom prst="rect">
            <a:avLst/>
          </a:prstGeom>
          <a:solidFill>
            <a:schemeClr val="bg2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" name="Rectangle 17"/>
          <p:cNvSpPr/>
          <p:nvPr/>
        </p:nvSpPr>
        <p:spPr>
          <a:xfrm>
            <a:off x="28576" y="510779"/>
            <a:ext cx="9525" cy="273844"/>
          </a:xfrm>
          <a:prstGeom prst="rect">
            <a:avLst/>
          </a:prstGeom>
          <a:solidFill>
            <a:schemeClr val="bg2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1" name="Rectangle 18"/>
          <p:cNvSpPr/>
          <p:nvPr/>
        </p:nvSpPr>
        <p:spPr>
          <a:xfrm>
            <a:off x="1" y="510779"/>
            <a:ext cx="9525" cy="273844"/>
          </a:xfrm>
          <a:prstGeom prst="rect">
            <a:avLst/>
          </a:prstGeom>
          <a:solidFill>
            <a:schemeClr val="bg2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2" name="Rectangle 19"/>
          <p:cNvSpPr/>
          <p:nvPr/>
        </p:nvSpPr>
        <p:spPr>
          <a:xfrm flipH="1">
            <a:off x="149226" y="510779"/>
            <a:ext cx="28575" cy="273844"/>
          </a:xfrm>
          <a:prstGeom prst="rect">
            <a:avLst/>
          </a:prstGeom>
          <a:solidFill>
            <a:schemeClr val="bg2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" name="Rectangle 20"/>
          <p:cNvSpPr/>
          <p:nvPr/>
        </p:nvSpPr>
        <p:spPr>
          <a:xfrm flipH="1">
            <a:off x="188914" y="510779"/>
            <a:ext cx="28575" cy="273844"/>
          </a:xfrm>
          <a:prstGeom prst="rect">
            <a:avLst/>
          </a:prstGeom>
          <a:solidFill>
            <a:schemeClr val="bg2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" name="Rectangle 21"/>
          <p:cNvSpPr/>
          <p:nvPr/>
        </p:nvSpPr>
        <p:spPr>
          <a:xfrm flipH="1">
            <a:off x="227014" y="510779"/>
            <a:ext cx="9525" cy="273844"/>
          </a:xfrm>
          <a:prstGeom prst="rect">
            <a:avLst/>
          </a:prstGeom>
          <a:solidFill>
            <a:schemeClr val="bg2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5" name="Rectangle 28"/>
          <p:cNvSpPr/>
          <p:nvPr/>
        </p:nvSpPr>
        <p:spPr>
          <a:xfrm flipH="1">
            <a:off x="255589" y="510779"/>
            <a:ext cx="7937" cy="273844"/>
          </a:xfrm>
          <a:prstGeom prst="rect">
            <a:avLst/>
          </a:prstGeom>
          <a:solidFill>
            <a:schemeClr val="bg2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" name="Rectangle 29"/>
          <p:cNvSpPr/>
          <p:nvPr/>
        </p:nvSpPr>
        <p:spPr>
          <a:xfrm>
            <a:off x="279401" y="510779"/>
            <a:ext cx="36513" cy="273844"/>
          </a:xfrm>
          <a:prstGeom prst="rect">
            <a:avLst/>
          </a:prstGeom>
          <a:solidFill>
            <a:schemeClr val="bg2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824" y="384048"/>
            <a:ext cx="7772400" cy="685800"/>
          </a:xfrm>
        </p:spPr>
        <p:txBody>
          <a:bodyPr/>
          <a:lstStyle>
            <a:lvl1pPr>
              <a:defRPr sz="4000"/>
            </a:lvl1pPr>
            <a:extLst/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57312"/>
            <a:ext cx="4040188" cy="479822"/>
          </a:xfrm>
        </p:spPr>
        <p:txBody>
          <a:bodyPr anchor="ctr"/>
          <a:lstStyle>
            <a:lvl1pPr marL="73152" indent="0" algn="l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5026" y="1357312"/>
            <a:ext cx="4041775" cy="479822"/>
          </a:xfrm>
        </p:spPr>
        <p:txBody>
          <a:bodyPr anchor="ctr"/>
          <a:lstStyle>
            <a:lvl1pPr marL="73152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57200" y="1844278"/>
            <a:ext cx="4040188" cy="296951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44278"/>
            <a:ext cx="4041775" cy="296951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fld id="{50E66C7C-08FC-41B4-9751-DF6F42CC0B6C}" type="datetimeFigureOut">
              <a:rPr lang="en-US"/>
              <a:pPr>
                <a:defRPr/>
              </a:pPr>
              <a:t>5/6/2026</a:t>
            </a:fld>
            <a:endParaRPr lang="en-US"/>
          </a:p>
        </p:txBody>
      </p:sp>
      <p:sp>
        <p:nvSpPr>
          <p:cNvPr id="1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endParaRPr lang="en-US"/>
          </a:p>
        </p:txBody>
      </p:sp>
      <p:sp>
        <p:nvSpPr>
          <p:cNvPr id="1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fld id="{07F9EC7F-0E94-43F1-BA37-EEBA570984D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384048"/>
            <a:ext cx="7772400" cy="685800"/>
          </a:xfrm>
        </p:spPr>
        <p:txBody>
          <a:bodyPr/>
          <a:lstStyle>
            <a:lvl1pPr>
              <a:defRPr sz="4000" cap="none" baseline="0"/>
            </a:lvl1pPr>
            <a:extLst/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183BA1-03C5-4F88-977B-15F885EDC324}" type="datetimeFigureOut">
              <a:rPr lang="en-US"/>
              <a:pPr>
                <a:defRPr/>
              </a:pPr>
              <a:t>5/6/2026</a:t>
            </a:fld>
            <a:endParaRPr lang="en-US" dirty="0"/>
          </a:p>
        </p:txBody>
      </p:sp>
      <p:sp>
        <p:nvSpPr>
          <p:cNvPr id="4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D4B8F4-D148-47EF-AB67-797D07C5DF4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fld id="{935FBB05-EC5C-4E4E-A424-3D82307967F0}" type="datetimeFigureOut">
              <a:rPr lang="en-US"/>
              <a:pPr>
                <a:defRPr/>
              </a:pPr>
              <a:t>5/6/2026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fld id="{0F33FD08-DF08-448F-BC71-253B8DAB9F2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4787"/>
            <a:ext cx="8229600" cy="871538"/>
          </a:xfrm>
        </p:spPr>
        <p:txBody>
          <a:bodyPr anchor="ctr"/>
          <a:lstStyle>
            <a:lvl1pPr algn="l">
              <a:buNone/>
              <a:defRPr sz="3600" b="0"/>
            </a:lvl1pPr>
            <a:extLst/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1076325"/>
            <a:ext cx="2514600" cy="3429000"/>
          </a:xfrm>
        </p:spPr>
        <p:txBody>
          <a:bodyPr/>
          <a:lstStyle>
            <a:lvl1pPr marL="54864" indent="0">
              <a:buNone/>
              <a:defRPr sz="18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0" y="1076325"/>
            <a:ext cx="5486400" cy="3429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fld id="{6F812951-AA11-44A5-97CE-438D7A3C7B49}" type="datetimeFigureOut">
              <a:rPr lang="en-US"/>
              <a:pPr>
                <a:defRPr/>
              </a:pPr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pPr>
              <a:defRPr/>
            </a:pPr>
            <a:fld id="{53C8A19A-EA5E-4432-9D2A-E196453B2AD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/>
          <p:cNvSpPr/>
          <p:nvPr/>
        </p:nvSpPr>
        <p:spPr>
          <a:xfrm>
            <a:off x="368300" y="0"/>
            <a:ext cx="8777288" cy="1408510"/>
          </a:xfrm>
          <a:prstGeom prst="rect">
            <a:avLst/>
          </a:prstGeom>
          <a:solidFill>
            <a:srgbClr val="000000">
              <a:alpha val="100000"/>
            </a:srgb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cxnSp>
        <p:nvCxnSpPr>
          <p:cNvPr id="6" name="Straight Connector 8"/>
          <p:cNvCxnSpPr/>
          <p:nvPr/>
        </p:nvCxnSpPr>
        <p:spPr>
          <a:xfrm flipV="1">
            <a:off x="363538" y="1413272"/>
            <a:ext cx="8782050" cy="0"/>
          </a:xfrm>
          <a:prstGeom prst="line">
            <a:avLst/>
          </a:prstGeom>
          <a:noFill/>
          <a:ln w="19050" cap="flat" cmpd="sng" algn="ctr">
            <a:solidFill>
              <a:srgbClr val="FFFFFF">
                <a:alpha val="100000"/>
              </a:srgbClr>
            </a:soli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17"/>
          <p:cNvGrpSpPr>
            <a:grpSpLocks/>
          </p:cNvGrpSpPr>
          <p:nvPr/>
        </p:nvGrpSpPr>
        <p:grpSpPr bwMode="auto">
          <a:xfrm rot="5400000">
            <a:off x="8531821" y="898327"/>
            <a:ext cx="98822" cy="128587"/>
            <a:chOff x="6668087" y="1297746"/>
            <a:chExt cx="161840" cy="156602"/>
          </a:xfrm>
        </p:grpSpPr>
        <p:cxnSp>
          <p:nvCxnSpPr>
            <p:cNvPr id="8" name="Straight Connector 14"/>
            <p:cNvCxnSpPr/>
            <p:nvPr/>
          </p:nvCxnSpPr>
          <p:spPr>
            <a:xfrm rot="16200000">
              <a:off x="6663593" y="1296441"/>
              <a:ext cx="88935" cy="79945"/>
            </a:xfrm>
            <a:prstGeom prst="line">
              <a:avLst/>
            </a:prstGeom>
            <a:noFill/>
            <a:ln w="25400" cap="rnd" cmpd="sng" algn="ctr">
              <a:solidFill>
                <a:srgbClr val="FFFFFF">
                  <a:alpha val="100000"/>
                </a:srgbClr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15"/>
            <p:cNvCxnSpPr/>
            <p:nvPr/>
          </p:nvCxnSpPr>
          <p:spPr>
            <a:xfrm rot="16200000" flipV="1">
              <a:off x="6685198" y="1391515"/>
              <a:ext cx="125668" cy="0"/>
            </a:xfrm>
            <a:prstGeom prst="line">
              <a:avLst/>
            </a:prstGeom>
            <a:noFill/>
            <a:ln w="25400" cap="rnd" cmpd="sng" algn="ctr">
              <a:solidFill>
                <a:srgbClr val="FFFFFF">
                  <a:alpha val="100000"/>
                </a:srgbClr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16"/>
            <p:cNvCxnSpPr/>
            <p:nvPr/>
          </p:nvCxnSpPr>
          <p:spPr>
            <a:xfrm rot="5400000" flipH="1">
              <a:off x="6744513" y="1295466"/>
              <a:ext cx="88935" cy="81895"/>
            </a:xfrm>
            <a:prstGeom prst="line">
              <a:avLst/>
            </a:prstGeom>
            <a:noFill/>
            <a:ln w="25400" cap="rnd" cmpd="sng" algn="ctr">
              <a:solidFill>
                <a:srgbClr val="FFFFFF">
                  <a:alpha val="100000"/>
                </a:srgbClr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7"/>
          <p:cNvGrpSpPr>
            <a:grpSpLocks/>
          </p:cNvGrpSpPr>
          <p:nvPr/>
        </p:nvGrpSpPr>
        <p:grpSpPr bwMode="auto">
          <a:xfrm rot="5400000">
            <a:off x="8684221" y="1012627"/>
            <a:ext cx="98822" cy="128587"/>
            <a:chOff x="6668087" y="1297746"/>
            <a:chExt cx="161840" cy="156602"/>
          </a:xfrm>
        </p:grpSpPr>
        <p:cxnSp>
          <p:nvCxnSpPr>
            <p:cNvPr id="12" name="Straight Connector 10"/>
            <p:cNvCxnSpPr/>
            <p:nvPr/>
          </p:nvCxnSpPr>
          <p:spPr>
            <a:xfrm rot="16200000">
              <a:off x="6663593" y="1296441"/>
              <a:ext cx="88935" cy="79945"/>
            </a:xfrm>
            <a:prstGeom prst="line">
              <a:avLst/>
            </a:prstGeom>
            <a:noFill/>
            <a:ln w="25400" cap="rnd" cmpd="sng" algn="ctr">
              <a:solidFill>
                <a:srgbClr val="FFFFFF">
                  <a:alpha val="100000"/>
                </a:srgbClr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1"/>
            <p:cNvCxnSpPr/>
            <p:nvPr/>
          </p:nvCxnSpPr>
          <p:spPr>
            <a:xfrm rot="16200000" flipV="1">
              <a:off x="6685198" y="1391515"/>
              <a:ext cx="125668" cy="0"/>
            </a:xfrm>
            <a:prstGeom prst="line">
              <a:avLst/>
            </a:prstGeom>
            <a:noFill/>
            <a:ln w="25400" cap="rnd" cmpd="sng" algn="ctr">
              <a:solidFill>
                <a:srgbClr val="FFFFFF">
                  <a:alpha val="100000"/>
                </a:srgbClr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2"/>
            <p:cNvCxnSpPr/>
            <p:nvPr/>
          </p:nvCxnSpPr>
          <p:spPr>
            <a:xfrm rot="5400000" flipH="1">
              <a:off x="6744513" y="1295466"/>
              <a:ext cx="88935" cy="81895"/>
            </a:xfrm>
            <a:prstGeom prst="line">
              <a:avLst/>
            </a:prstGeom>
            <a:noFill/>
            <a:ln w="25400" cap="rnd" cmpd="sng" algn="ctr">
              <a:solidFill>
                <a:srgbClr val="FFFFFF">
                  <a:alpha val="100000"/>
                </a:srgbClr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7"/>
          <p:cNvGrpSpPr>
            <a:grpSpLocks/>
          </p:cNvGrpSpPr>
          <p:nvPr/>
        </p:nvGrpSpPr>
        <p:grpSpPr bwMode="auto">
          <a:xfrm rot="5400000">
            <a:off x="8336558" y="1090018"/>
            <a:ext cx="98822" cy="128588"/>
            <a:chOff x="6668087" y="1297746"/>
            <a:chExt cx="161840" cy="156602"/>
          </a:xfrm>
        </p:grpSpPr>
        <p:cxnSp>
          <p:nvCxnSpPr>
            <p:cNvPr id="16" name="Straight Connector 18"/>
            <p:cNvCxnSpPr/>
            <p:nvPr/>
          </p:nvCxnSpPr>
          <p:spPr>
            <a:xfrm rot="16200000">
              <a:off x="6663592" y="1296440"/>
              <a:ext cx="88934" cy="79945"/>
            </a:xfrm>
            <a:prstGeom prst="line">
              <a:avLst/>
            </a:prstGeom>
            <a:noFill/>
            <a:ln w="25400" cap="rnd" cmpd="sng" algn="ctr">
              <a:solidFill>
                <a:srgbClr val="FFFFFF">
                  <a:alpha val="100000"/>
                </a:srgbClr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9"/>
            <p:cNvCxnSpPr/>
            <p:nvPr/>
          </p:nvCxnSpPr>
          <p:spPr>
            <a:xfrm rot="16200000" flipV="1">
              <a:off x="6685198" y="1391513"/>
              <a:ext cx="125668" cy="0"/>
            </a:xfrm>
            <a:prstGeom prst="line">
              <a:avLst/>
            </a:prstGeom>
            <a:noFill/>
            <a:ln w="25400" cap="rnd" cmpd="sng" algn="ctr">
              <a:solidFill>
                <a:srgbClr val="FFFFFF">
                  <a:alpha val="100000"/>
                </a:srgbClr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20"/>
            <p:cNvCxnSpPr/>
            <p:nvPr/>
          </p:nvCxnSpPr>
          <p:spPr>
            <a:xfrm rot="5400000" flipH="1">
              <a:off x="6744512" y="1295466"/>
              <a:ext cx="88934" cy="81895"/>
            </a:xfrm>
            <a:prstGeom prst="line">
              <a:avLst/>
            </a:prstGeom>
            <a:noFill/>
            <a:ln w="25400" cap="rnd" cmpd="sng" algn="ctr">
              <a:solidFill>
                <a:srgbClr val="FFFFFF">
                  <a:alpha val="100000"/>
                </a:srgbClr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504" y="171450"/>
            <a:ext cx="7664896" cy="685800"/>
          </a:xfrm>
        </p:spPr>
        <p:txBody>
          <a:bodyPr anchor="b"/>
          <a:lstStyle>
            <a:lvl1pPr algn="l">
              <a:buNone/>
              <a:defRPr sz="2100" b="0"/>
            </a:lvl1pPr>
            <a:extLst/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07504" y="1428750"/>
            <a:ext cx="9037448" cy="3720108"/>
          </a:xfrm>
        </p:spPr>
        <p:txBody>
          <a:bodyPr>
            <a:normAutofit/>
          </a:bodyPr>
          <a:lstStyle>
            <a:lvl1pPr>
              <a:buNone/>
              <a:defRPr sz="3200"/>
            </a:lvl1pPr>
            <a:extLst/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1560" y="862608"/>
            <a:ext cx="7160840" cy="514350"/>
          </a:xfrm>
        </p:spPr>
        <p:txBody>
          <a:bodyPr/>
          <a:lstStyle>
            <a:lvl1pPr marL="27432" indent="0">
              <a:spcBef>
                <a:spcPts val="0"/>
              </a:spcBef>
              <a:buNone/>
              <a:defRPr sz="1400">
                <a:solidFill>
                  <a:srgbClr val="FFFFFF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Date Placeholder 30">
            <a:extLst>
              <a:ext uri="{FF2B5EF4-FFF2-40B4-BE49-F238E27FC236}">
                <a16:creationId xmlns:a16="http://schemas.microsoft.com/office/drawing/2014/main" id="{2F62F2B8-C535-737A-CC12-DC1D7959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4EC6304-A153-4878-B585-CAA97BBFA16C}" type="datetimeFigureOut">
              <a:rPr lang="en-US" smtClean="0"/>
              <a:pPr>
                <a:defRPr/>
              </a:pPr>
              <a:t>5/6/2026</a:t>
            </a:fld>
            <a:endParaRPr lang="en-US" dirty="0"/>
          </a:p>
        </p:txBody>
      </p:sp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EEBC00EC-7BF6-6595-B876-F5FBF1C46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5ED4D44D-1124-3E29-8AB8-1AF073CF3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4FC90C0-7302-4BB5-8208-4DFC32EDA17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D54926-A988-4AA4-BB95-3DD90CEB9003}" type="datetimeFigureOut">
              <a:rPr lang="en-US"/>
              <a:pPr>
                <a:defRPr/>
              </a:pPr>
              <a:t>5/6/2026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9F4649F-B331-45DC-9A37-7D5470F2247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251520" y="384572"/>
            <a:ext cx="8435280" cy="685800"/>
          </a:xfrm>
          <a:prstGeom prst="rect">
            <a:avLst/>
          </a:prstGeom>
        </p:spPr>
        <p:txBody>
          <a:bodyPr vert="horz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36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251520" y="1338263"/>
            <a:ext cx="8435280" cy="3429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77000" y="4812507"/>
            <a:ext cx="2133600" cy="273844"/>
          </a:xfrm>
          <a:prstGeom prst="rect">
            <a:avLst/>
          </a:prstGeom>
        </p:spPr>
        <p:txBody>
          <a:bodyPr vert="horz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100">
                <a:solidFill>
                  <a:schemeClr val="tx2"/>
                </a:solidFill>
                <a:latin typeface="+mn-lt"/>
                <a:cs typeface="+mn-cs"/>
              </a:defRPr>
            </a:lvl1pPr>
            <a:extLst/>
          </a:lstStyle>
          <a:p>
            <a:pPr>
              <a:defRPr/>
            </a:pPr>
            <a:fld id="{64EC6304-A153-4878-B585-CAA97BBFA16C}" type="datetimeFigureOut">
              <a:rPr lang="en-US"/>
              <a:pPr>
                <a:defRPr/>
              </a:pPr>
              <a:t>5/6/2026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51520" y="4812507"/>
            <a:ext cx="6225480" cy="273844"/>
          </a:xfrm>
          <a:prstGeom prst="rect">
            <a:avLst/>
          </a:prstGeom>
        </p:spPr>
        <p:txBody>
          <a:bodyPr vert="horz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100">
                <a:solidFill>
                  <a:schemeClr val="tx2"/>
                </a:solidFill>
                <a:latin typeface="+mn-lt"/>
                <a:cs typeface="+mn-cs"/>
              </a:defRPr>
            </a:lvl1pPr>
            <a:extLst/>
          </a:lstStyle>
          <a:p>
            <a:pPr>
              <a:defRPr/>
            </a:pPr>
            <a:endParaRPr lang="en-US" dirty="0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610600" y="4812507"/>
            <a:ext cx="457200" cy="273844"/>
          </a:xfrm>
          <a:prstGeom prst="rect">
            <a:avLst/>
          </a:prstGeom>
        </p:spPr>
        <p:txBody>
          <a:bodyPr vert="horz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2"/>
                </a:solidFill>
                <a:latin typeface="+mn-lt"/>
                <a:cs typeface="+mn-cs"/>
              </a:defRPr>
            </a:lvl1pPr>
            <a:extLst/>
          </a:lstStyle>
          <a:p>
            <a:pPr>
              <a:defRPr/>
            </a:pPr>
            <a:fld id="{C4FC90C0-7302-4BB5-8208-4DFC32EDA1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9" r:id="rId1"/>
    <p:sldLayoutId id="2147483658" r:id="rId2"/>
    <p:sldLayoutId id="2147483660" r:id="rId3"/>
    <p:sldLayoutId id="2147483661" r:id="rId4"/>
    <p:sldLayoutId id="2147483662" r:id="rId5"/>
    <p:sldLayoutId id="2147483657" r:id="rId6"/>
    <p:sldLayoutId id="2147483663" r:id="rId7"/>
    <p:sldLayoutId id="2147483664" r:id="rId8"/>
    <p:sldLayoutId id="2147483665" r:id="rId9"/>
    <p:sldLayoutId id="2147483656" r:id="rId10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 spc="-150">
          <a:solidFill>
            <a:srgbClr val="F0E8D5"/>
          </a:solidFill>
          <a:effectLst>
            <a:outerShdw blurRad="50800" dist="50800" dir="2700000" algn="tl" rotWithShape="0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0E8D5"/>
          </a:solidFill>
          <a:latin typeface="Corbel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0E8D5"/>
          </a:solidFill>
          <a:latin typeface="Corbel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0E8D5"/>
          </a:solidFill>
          <a:latin typeface="Corbel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0E8D5"/>
          </a:solidFill>
          <a:latin typeface="Corbel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>
          <a:solidFill>
            <a:srgbClr val="F0E8D5"/>
          </a:solidFill>
          <a:latin typeface="Corbel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>
          <a:solidFill>
            <a:srgbClr val="F0E8D5"/>
          </a:solidFill>
          <a:latin typeface="Corbel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>
          <a:solidFill>
            <a:srgbClr val="F0E8D5"/>
          </a:solidFill>
          <a:latin typeface="Corbel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>
          <a:solidFill>
            <a:srgbClr val="F0E8D5"/>
          </a:solidFill>
          <a:latin typeface="Corbel" pitchFamily="34" charset="0"/>
        </a:defRPr>
      </a:lvl9pPr>
      <a:extLst/>
    </p:titleStyle>
    <p:bodyStyle>
      <a:lvl1pPr marL="411163" indent="-342900" algn="l" rtl="0" eaLnBrk="0" fontAlgn="base" hangingPunct="0">
        <a:spcBef>
          <a:spcPts val="700"/>
        </a:spcBef>
        <a:spcAft>
          <a:spcPct val="0"/>
        </a:spcAft>
        <a:buSzPct val="95000"/>
        <a:buFont typeface="Wingdings" pitchFamily="2" charset="2"/>
        <a:buChar char="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39775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90000"/>
        <a:buFont typeface="Wingdings" pitchFamily="2" charset="2"/>
        <a:buChar char="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995363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 2" pitchFamily="18" charset="2"/>
        <a:buChar char="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60475" indent="-228600" algn="l" rtl="0" eaLnBrk="0" fontAlgn="base" hangingPunct="0">
        <a:spcBef>
          <a:spcPct val="20000"/>
        </a:spcBef>
        <a:spcAft>
          <a:spcPct val="0"/>
        </a:spcAft>
        <a:buClr>
          <a:srgbClr val="A28E6A"/>
        </a:buClr>
        <a:buFont typeface="Wingdings 3" pitchFamily="18" charset="2"/>
        <a:buChar char="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1481138" indent="-209550" algn="l" rtl="0" eaLnBrk="0" fontAlgn="base" hangingPunct="0">
        <a:spcBef>
          <a:spcPct val="20000"/>
        </a:spcBef>
        <a:spcAft>
          <a:spcPct val="0"/>
        </a:spcAft>
        <a:buClr>
          <a:srgbClr val="A28E6A"/>
        </a:buClr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09928" indent="-210312" algn="l" rtl="0" eaLnBrk="1" latinLnBrk="0" hangingPunct="1">
        <a:spcBef>
          <a:spcPct val="20000"/>
        </a:spcBef>
        <a:buClr>
          <a:schemeClr val="accent3"/>
        </a:buClr>
        <a:buFont typeface="Wingdings 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01952" indent="-182880" algn="l" rtl="0" eaLnBrk="1" latinLnBrk="0" hangingPunct="1">
        <a:spcBef>
          <a:spcPct val="20000"/>
        </a:spcBef>
        <a:buClr>
          <a:schemeClr val="accent4"/>
        </a:buClr>
        <a:buFont typeface="Wingdings 2"/>
        <a:buChar char="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93976" indent="-182880" algn="l" rtl="0" eaLnBrk="1" latinLnBrk="0" hangingPunct="1">
        <a:spcBef>
          <a:spcPct val="20000"/>
        </a:spcBef>
        <a:buClr>
          <a:schemeClr val="accent4"/>
        </a:buClr>
        <a:buFont typeface="Wingdings 2"/>
        <a:buChar char="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rtl="0" eaLnBrk="1" latinLnBrk="0" hangingPunct="1">
        <a:spcBef>
          <a:spcPct val="20000"/>
        </a:spcBef>
        <a:buClr>
          <a:schemeClr val="accent4"/>
        </a:buClr>
        <a:buFont typeface="Wingdings 2"/>
        <a:buChar char="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quote.org/wiki/Inferno_(Dante)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lfw.org/" TargetMode="External"/><Relationship Id="rId2" Type="http://schemas.openxmlformats.org/officeDocument/2006/relationships/hyperlink" Target="https://glad.dav1d.de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lm.g-truc.net/0.9.9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://www.servimg.com/u/f43/17/33/08/07/bill-a10.jpg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FeeneyCodes/INFO-3111--02--26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advancedesl.files.wordpress.com/2011/01/15.jp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dreads.com/author/quotes/101882.Calvin_Coolidge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emf"/><Relationship Id="rId5" Type="http://schemas.openxmlformats.org/officeDocument/2006/relationships/customXml" Target="../ink/ink1.xml"/><Relationship Id="rId4" Type="http://schemas.openxmlformats.org/officeDocument/2006/relationships/image" Target="../media/image17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Grp="1"/>
          </p:cNvSpPr>
          <p:nvPr>
            <p:ph type="title"/>
          </p:nvPr>
        </p:nvSpPr>
        <p:spPr>
          <a:xfrm>
            <a:off x="0" y="2931790"/>
            <a:ext cx="9108504" cy="864096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CA" sz="4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INFO3111: C++ 3D Graphics</a:t>
            </a:r>
            <a:endParaRPr sz="42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314" name="Rectangle 4"/>
          <p:cNvSpPr>
            <a:spLocks noGrp="1"/>
          </p:cNvSpPr>
          <p:nvPr>
            <p:ph type="body" idx="1"/>
          </p:nvPr>
        </p:nvSpPr>
        <p:spPr>
          <a:xfrm>
            <a:off x="899592" y="4011910"/>
            <a:ext cx="7772400" cy="789385"/>
          </a:xfrm>
        </p:spPr>
        <p:txBody>
          <a:bodyPr/>
          <a:lstStyle/>
          <a:p>
            <a:pPr marL="374650" eaLnBrk="1" hangingPunct="1"/>
            <a:r>
              <a:rPr lang="en-CA" dirty="0"/>
              <a:t>With You Hosts: Michael Feeney and Matthew Douglas</a:t>
            </a:r>
            <a:endParaRPr lang="en-US" sz="1800" dirty="0"/>
          </a:p>
        </p:txBody>
      </p:sp>
      <p:sp>
        <p:nvSpPr>
          <p:cNvPr id="2" name="TextBox 1">
            <a:hlinkClick r:id="rId3"/>
          </p:cNvPr>
          <p:cNvSpPr txBox="1"/>
          <p:nvPr/>
        </p:nvSpPr>
        <p:spPr>
          <a:xfrm>
            <a:off x="0" y="255943"/>
            <a:ext cx="91440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8800" dirty="0">
                <a:latin typeface="Blackadder ITC" panose="04020505051007020D02" pitchFamily="82" charset="0"/>
              </a:rPr>
              <a:t>Lasciate ogne speranza, </a:t>
            </a:r>
            <a:br>
              <a:rPr lang="it-IT" sz="8800" dirty="0">
                <a:latin typeface="Blackadder ITC" panose="04020505051007020D02" pitchFamily="82" charset="0"/>
              </a:rPr>
            </a:br>
            <a:r>
              <a:rPr lang="it-IT" sz="8800" dirty="0">
                <a:latin typeface="Blackadder ITC" panose="04020505051007020D02" pitchFamily="82" charset="0"/>
              </a:rPr>
              <a:t>voi ch'entrate</a:t>
            </a:r>
            <a:endParaRPr lang="en-CA" sz="8800" dirty="0">
              <a:latin typeface="Blackadder ITC" panose="04020505051007020D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1229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B3AE1-914C-EFB1-E950-9B261A381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anchor="t">
            <a:noAutofit/>
          </a:bodyPr>
          <a:lstStyle/>
          <a:p>
            <a:r>
              <a:rPr lang="en-US" dirty="0">
                <a:ea typeface="Verdana"/>
              </a:rPr>
              <a:t>Course Flow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0869D-1606-263F-3CEE-A634D3B00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10845"/>
            <a:r>
              <a:rPr lang="en-US" dirty="0">
                <a:ea typeface="Verdana"/>
              </a:rPr>
              <a:t>May-June (week 1-7: Michael Feeney</a:t>
            </a:r>
          </a:p>
          <a:p>
            <a:pPr marL="410845"/>
            <a:r>
              <a:rPr lang="en-US" dirty="0">
                <a:ea typeface="Verdana"/>
              </a:rPr>
              <a:t>July-Aug (week 8-14): Matt Douglas</a:t>
            </a:r>
          </a:p>
        </p:txBody>
      </p:sp>
    </p:spTree>
    <p:extLst>
      <p:ext uri="{BB962C8B-B14F-4D97-AF65-F5344CB8AC3E}">
        <p14:creationId xmlns:p14="http://schemas.microsoft.com/office/powerpoint/2010/main" val="2305483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CA" dirty="0">
                <a:solidFill>
                  <a:schemeClr val="tx2">
                    <a:satMod val="200000"/>
                  </a:schemeClr>
                </a:solidFill>
              </a:rPr>
              <a:t>What’s this course about?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79512" y="1168004"/>
            <a:ext cx="8640960" cy="3599259"/>
          </a:xfrm>
        </p:spPr>
        <p:txBody>
          <a:bodyPr/>
          <a:lstStyle/>
          <a:p>
            <a:pPr eaLnBrk="1" hangingPunct="1"/>
            <a:r>
              <a:rPr lang="en-CA" sz="2000" dirty="0"/>
              <a:t>See the CIS (or whatever that’s called now) on FOL</a:t>
            </a:r>
          </a:p>
          <a:p>
            <a:pPr eaLnBrk="1" hangingPunct="1"/>
            <a:r>
              <a:rPr lang="en-CA" sz="2000" dirty="0"/>
              <a:t>Intro to (soft) “</a:t>
            </a:r>
            <a:r>
              <a:rPr lang="en-CA" sz="2000" u="sng" dirty="0"/>
              <a:t>real time</a:t>
            </a:r>
            <a:r>
              <a:rPr lang="en-CA" sz="2000" dirty="0"/>
              <a:t>” 3D graphics using a </a:t>
            </a:r>
            <a:r>
              <a:rPr lang="en-CA" sz="2000" u="sng" dirty="0"/>
              <a:t>C/C++</a:t>
            </a:r>
            <a:r>
              <a:rPr lang="en-CA" sz="2000" dirty="0"/>
              <a:t> API. </a:t>
            </a:r>
            <a:br>
              <a:rPr lang="en-CA" sz="2000" dirty="0"/>
            </a:br>
            <a:r>
              <a:rPr lang="en-CA" sz="2000" dirty="0"/>
              <a:t>Popular ones: </a:t>
            </a:r>
          </a:p>
          <a:p>
            <a:pPr lvl="1" eaLnBrk="1" hangingPunct="1"/>
            <a:r>
              <a:rPr lang="en-CA" sz="1600" dirty="0"/>
              <a:t>DirectX (aka Direct 3D), OpenGL, OpenGL ES, </a:t>
            </a:r>
            <a:r>
              <a:rPr lang="en-CA" sz="1600" dirty="0" err="1"/>
              <a:t>Vulkan</a:t>
            </a:r>
            <a:endParaRPr lang="en-CA" sz="1600" dirty="0"/>
          </a:p>
          <a:p>
            <a:pPr eaLnBrk="1" hangingPunct="1"/>
            <a:r>
              <a:rPr lang="en-CA" sz="2000" dirty="0"/>
              <a:t>The “C/C++” part come into play with:</a:t>
            </a:r>
          </a:p>
          <a:p>
            <a:pPr lvl="1" eaLnBrk="1" hangingPunct="1"/>
            <a:r>
              <a:rPr lang="en-CA" sz="1600" dirty="0"/>
              <a:t>OpenGL is a mature “C” API (as most “C++” APIs are)</a:t>
            </a:r>
          </a:p>
          <a:p>
            <a:pPr lvl="1" eaLnBrk="1" hangingPunct="1"/>
            <a:r>
              <a:rPr lang="en-CA" sz="1600" dirty="0"/>
              <a:t>The API is just to controlling the GPU, the C++ supports everything else</a:t>
            </a:r>
          </a:p>
          <a:p>
            <a:pPr lvl="1" eaLnBrk="1" hangingPunct="1"/>
            <a:r>
              <a:rPr lang="en-CA" sz="1600" dirty="0"/>
              <a:t>How do we manage/maintain/extend this little “framework” we have? </a:t>
            </a:r>
          </a:p>
          <a:p>
            <a:pPr eaLnBrk="1" hangingPunct="1"/>
            <a:r>
              <a:rPr lang="en-CA" sz="2000" dirty="0"/>
              <a:t>A comparison might be a database API, where we have all this other code that uses that API to do something useful.</a:t>
            </a:r>
          </a:p>
        </p:txBody>
      </p:sp>
      <p:sp>
        <p:nvSpPr>
          <p:cNvPr id="6" name="Pentagon 5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384572"/>
            <a:ext cx="6912768" cy="6858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CA" dirty="0">
                <a:solidFill>
                  <a:schemeClr val="tx2">
                    <a:satMod val="200000"/>
                  </a:schemeClr>
                </a:solidFill>
              </a:rPr>
              <a:t>What’s this course about?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79512" y="1168004"/>
            <a:ext cx="8856984" cy="3599259"/>
          </a:xfrm>
        </p:spPr>
        <p:txBody>
          <a:bodyPr>
            <a:scene3d>
              <a:camera prst="orthographicFront"/>
              <a:lightRig rig="threePt" dir="t"/>
            </a:scene3d>
            <a:sp3d prstMaterial="dkEdge"/>
          </a:bodyPr>
          <a:lstStyle/>
          <a:p>
            <a:pPr eaLnBrk="1" hangingPunct="1"/>
            <a:r>
              <a:rPr lang="en-CA" sz="2400" dirty="0"/>
              <a:t>Graphics API: we’ll be using </a:t>
            </a:r>
            <a:r>
              <a:rPr lang="en-CA" sz="2400" b="1" u="sng" dirty="0"/>
              <a:t>OpenGL 4.6</a:t>
            </a:r>
            <a:r>
              <a:rPr lang="en-CA" sz="2400" dirty="0"/>
              <a:t> </a:t>
            </a:r>
            <a:br>
              <a:rPr lang="en-CA" sz="2400" dirty="0"/>
            </a:br>
            <a:r>
              <a:rPr lang="en-CA" sz="2400" i="1" dirty="0"/>
              <a:t>(+glad, GLFW, and </a:t>
            </a:r>
            <a:r>
              <a:rPr lang="en-CA" sz="2400" i="1" dirty="0" err="1"/>
              <a:t>glm</a:t>
            </a:r>
            <a:r>
              <a:rPr lang="en-CA" sz="2400" i="1" dirty="0"/>
              <a:t>)</a:t>
            </a:r>
          </a:p>
          <a:p>
            <a:pPr lvl="1" eaLnBrk="1" hangingPunct="1"/>
            <a:r>
              <a:rPr lang="en-CA" sz="2000" dirty="0"/>
              <a:t>We’ll also need some other glue code:</a:t>
            </a:r>
          </a:p>
          <a:p>
            <a:pPr lvl="2" eaLnBrk="1" hangingPunct="1"/>
            <a:r>
              <a:rPr lang="en-CA" sz="1800" dirty="0"/>
              <a:t>glad: </a:t>
            </a:r>
            <a:r>
              <a:rPr lang="en-CA" sz="1800" dirty="0">
                <a:hlinkClick r:id="rId2"/>
              </a:rPr>
              <a:t>https://glad.dav1d.de/</a:t>
            </a:r>
            <a:r>
              <a:rPr lang="en-CA" sz="1800" dirty="0"/>
              <a:t> </a:t>
            </a:r>
          </a:p>
          <a:p>
            <a:pPr lvl="2" eaLnBrk="1" hangingPunct="1"/>
            <a:r>
              <a:rPr lang="en-CA" sz="1800" dirty="0"/>
              <a:t>GLFW: </a:t>
            </a:r>
            <a:r>
              <a:rPr lang="en-CA" sz="1800" dirty="0">
                <a:hlinkClick r:id="rId3"/>
              </a:rPr>
              <a:t>https://www.glfw.org/</a:t>
            </a:r>
            <a:r>
              <a:rPr lang="en-CA" sz="1800" dirty="0"/>
              <a:t> </a:t>
            </a:r>
          </a:p>
          <a:p>
            <a:pPr lvl="2" eaLnBrk="1" hangingPunct="1"/>
            <a:r>
              <a:rPr lang="en-CA" sz="1800" dirty="0" err="1"/>
              <a:t>glm</a:t>
            </a:r>
            <a:r>
              <a:rPr lang="en-CA" sz="1800" dirty="0"/>
              <a:t>: </a:t>
            </a:r>
            <a:r>
              <a:rPr lang="en-CA" sz="1800" dirty="0">
                <a:hlinkClick r:id="rId4"/>
              </a:rPr>
              <a:t>https://glm.g-truc.net/0.9.9/</a:t>
            </a:r>
            <a:r>
              <a:rPr lang="en-CA" sz="1800" dirty="0"/>
              <a:t> </a:t>
            </a:r>
          </a:p>
          <a:p>
            <a:pPr lvl="1" eaLnBrk="1" hangingPunct="1"/>
            <a:r>
              <a:rPr lang="en-CA" sz="2000" dirty="0"/>
              <a:t>I may show you some </a:t>
            </a:r>
            <a:r>
              <a:rPr lang="en-CA" sz="2000" dirty="0" err="1"/>
              <a:t>Vulkan</a:t>
            </a:r>
            <a:r>
              <a:rPr lang="en-CA" sz="2000" dirty="0"/>
              <a:t>, too, but we’ll see how it goes…</a:t>
            </a:r>
          </a:p>
          <a:p>
            <a:pPr eaLnBrk="1" hangingPunct="1"/>
            <a:endParaRPr lang="en-CA" sz="2000" dirty="0"/>
          </a:p>
        </p:txBody>
      </p:sp>
      <p:sp>
        <p:nvSpPr>
          <p:cNvPr id="6" name="Pentagon 5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" presetClass="entr" presetSubtype="1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" presetClass="entr" presetSubtype="1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" presetClass="entr" presetSubtype="1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" presetClass="entr" presetSubtype="1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200" dirty="0">
                <a:solidFill>
                  <a:schemeClr val="tx2">
                    <a:satMod val="200000"/>
                  </a:schemeClr>
                </a:solidFill>
              </a:rPr>
              <a:t>3D!!  OpenGL!!!  C++!!! </a:t>
            </a:r>
            <a:r>
              <a:rPr lang="en-US" sz="3200" b="1" i="1" u="sng" dirty="0">
                <a:solidFill>
                  <a:schemeClr val="tx2">
                    <a:satMod val="200000"/>
                  </a:schemeClr>
                </a:solidFill>
              </a:rPr>
              <a:t>SWEET</a:t>
            </a:r>
            <a:r>
              <a:rPr lang="en-US" sz="3200" dirty="0">
                <a:solidFill>
                  <a:schemeClr val="tx2">
                    <a:satMod val="200000"/>
                  </a:schemeClr>
                </a:solidFill>
              </a:rPr>
              <a:t>, dude!</a:t>
            </a:r>
            <a:endParaRPr lang="en-CA" sz="32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177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0" y="1059582"/>
            <a:ext cx="6084168" cy="3600400"/>
          </a:xfrm>
        </p:spPr>
        <p:txBody>
          <a:bodyPr/>
          <a:lstStyle/>
          <a:p>
            <a:pPr eaLnBrk="1" hangingPunct="1"/>
            <a:r>
              <a:rPr lang="en-US" sz="1800" dirty="0"/>
              <a:t>Let’s write Halo 17! </a:t>
            </a:r>
            <a:r>
              <a:rPr lang="en-US" sz="1800" b="1" i="1" dirty="0"/>
              <a:t>Today!! </a:t>
            </a:r>
            <a:br>
              <a:rPr lang="en-US" sz="1800" b="1" i="1" dirty="0"/>
            </a:br>
            <a:r>
              <a:rPr lang="en-US" sz="2000" b="1" i="1" dirty="0"/>
              <a:t>RIGHT NOW!!!</a:t>
            </a:r>
            <a:endParaRPr lang="en-US" sz="1800" b="1" i="1" dirty="0"/>
          </a:p>
          <a:p>
            <a:pPr eaLnBrk="1" hangingPunct="1"/>
            <a:r>
              <a:rPr lang="en-US" sz="1800" dirty="0"/>
              <a:t>Hold on, buckaroo…</a:t>
            </a:r>
          </a:p>
          <a:p>
            <a:pPr eaLnBrk="1" hangingPunct="1"/>
            <a:r>
              <a:rPr lang="en-US" sz="1800" dirty="0"/>
              <a:t>It’s an introduction</a:t>
            </a:r>
          </a:p>
          <a:p>
            <a:pPr eaLnBrk="1" hangingPunct="1"/>
            <a:r>
              <a:rPr lang="en-US" sz="1800" dirty="0"/>
              <a:t>You need to walk before running</a:t>
            </a:r>
          </a:p>
          <a:p>
            <a:pPr eaLnBrk="1" hangingPunct="1"/>
            <a:r>
              <a:rPr lang="en-US" sz="1800" dirty="0"/>
              <a:t>Some of this stuff is pretty difficult</a:t>
            </a:r>
          </a:p>
          <a:p>
            <a:pPr eaLnBrk="1" hangingPunct="1"/>
            <a:r>
              <a:rPr lang="en-US" sz="1800" dirty="0"/>
              <a:t>There’s some math in here</a:t>
            </a:r>
          </a:p>
          <a:p>
            <a:pPr lvl="1" eaLnBrk="1" hangingPunct="1"/>
            <a:r>
              <a:rPr lang="en-US" sz="1600" dirty="0"/>
              <a:t>And a lot of it isn’t intuitive at all…</a:t>
            </a:r>
          </a:p>
          <a:p>
            <a:pPr eaLnBrk="1" hangingPunct="1"/>
            <a:r>
              <a:rPr lang="en-US" sz="1800" dirty="0"/>
              <a:t>What CPAs find “challenging” tends to be a little unexpected (more in a moment)</a:t>
            </a:r>
            <a:endParaRPr lang="en-CA" sz="1800" dirty="0"/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  <p:pic>
        <p:nvPicPr>
          <p:cNvPr id="21506" name="Picture 2" descr="http://www.dcclubbing.com/wordpress/wp-content/uploads/bill-and-ted-air-guitar.jpeg">
            <a:hlinkClick r:id="rId2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28184" y="1131590"/>
            <a:ext cx="2684971" cy="366333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177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21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1177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" dur="500"/>
                                        <p:tgtEl>
                                          <p:spTgt spid="1177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6" dur="500"/>
                                        <p:tgtEl>
                                          <p:spTgt spid="1177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1" dur="500"/>
                                        <p:tgtEl>
                                          <p:spTgt spid="1177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6" dur="500"/>
                                        <p:tgtEl>
                                          <p:spTgt spid="1177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1" dur="500"/>
                                        <p:tgtEl>
                                          <p:spTgt spid="1177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6" dur="500"/>
                                        <p:tgtEl>
                                          <p:spTgt spid="1177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7763" grpId="0" uiExpand="1" build="p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79512" y="123478"/>
            <a:ext cx="7772400" cy="6858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CA" dirty="0">
                <a:solidFill>
                  <a:schemeClr val="tx2">
                    <a:satMod val="200000"/>
                  </a:schemeClr>
                </a:solidFill>
              </a:rPr>
              <a:t>What do you need?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323528" y="818721"/>
            <a:ext cx="8712968" cy="3816424"/>
          </a:xfrm>
        </p:spPr>
        <p:txBody>
          <a:bodyPr/>
          <a:lstStyle/>
          <a:p>
            <a:pPr eaLnBrk="1" hangingPunct="1"/>
            <a:r>
              <a:rPr lang="en-CA" sz="2400" dirty="0"/>
              <a:t>Your brain</a:t>
            </a:r>
          </a:p>
          <a:p>
            <a:pPr eaLnBrk="1" hangingPunct="1"/>
            <a:r>
              <a:rPr lang="en-CA" sz="2400" dirty="0"/>
              <a:t>Visual Studio </a:t>
            </a:r>
            <a:r>
              <a:rPr lang="en-CA" sz="2000" dirty="0"/>
              <a:t>2022 or 2026</a:t>
            </a:r>
          </a:p>
          <a:p>
            <a:pPr lvl="1" eaLnBrk="1" hangingPunct="1"/>
            <a:r>
              <a:rPr lang="en-CA" sz="1600" dirty="0"/>
              <a:t>Community Edition is fine (C++ compiler is </a:t>
            </a:r>
            <a:r>
              <a:rPr lang="en-CA" sz="1600" i="1" dirty="0"/>
              <a:t>identical</a:t>
            </a:r>
            <a:r>
              <a:rPr lang="en-CA" sz="1600" dirty="0"/>
              <a:t> will all versions)</a:t>
            </a:r>
          </a:p>
          <a:p>
            <a:pPr eaLnBrk="1" hangingPunct="1"/>
            <a:r>
              <a:rPr lang="en-CA" sz="2400" dirty="0"/>
              <a:t>GitHub and Git for Windows</a:t>
            </a:r>
          </a:p>
          <a:p>
            <a:pPr lvl="1" eaLnBrk="1" hangingPunct="1"/>
            <a:r>
              <a:rPr lang="en-CA" sz="2000" dirty="0"/>
              <a:t>Code link:</a:t>
            </a:r>
            <a:br>
              <a:rPr lang="en-CA" sz="2000" dirty="0"/>
            </a:br>
            <a:r>
              <a:rPr lang="en-CA" sz="2000" dirty="0">
                <a:hlinkClick r:id="rId2"/>
              </a:rPr>
              <a:t>https://github.com/FeeneyCodes/INFO-3111--02--26S</a:t>
            </a:r>
            <a:r>
              <a:rPr lang="en-CA" sz="2000" dirty="0"/>
              <a:t> </a:t>
            </a:r>
          </a:p>
          <a:p>
            <a:pPr lvl="1" eaLnBrk="1" hangingPunct="1"/>
            <a:r>
              <a:rPr lang="en-CA" sz="2000" b="1" u="sng" dirty="0"/>
              <a:t>After this week, everything will be on </a:t>
            </a:r>
            <a:r>
              <a:rPr lang="en-CA" sz="2000" b="1" u="sng" dirty="0" err="1"/>
              <a:t>github</a:t>
            </a:r>
            <a:endParaRPr lang="en-CA" sz="2000" b="1" u="sng" dirty="0"/>
          </a:p>
          <a:p>
            <a:pPr eaLnBrk="1" hangingPunct="1"/>
            <a:r>
              <a:rPr lang="en-CA" sz="2400" dirty="0"/>
              <a:t>GLFW, glad, and </a:t>
            </a:r>
            <a:r>
              <a:rPr lang="en-CA" sz="2400" dirty="0" err="1"/>
              <a:t>glm</a:t>
            </a:r>
            <a:endParaRPr lang="en-CA" sz="2400" dirty="0"/>
          </a:p>
          <a:p>
            <a:pPr eaLnBrk="1" hangingPunct="1"/>
            <a:r>
              <a:rPr lang="en-CA" sz="2000" dirty="0"/>
              <a:t>Notepad++ (likely)</a:t>
            </a:r>
          </a:p>
          <a:p>
            <a:pPr eaLnBrk="1" hangingPunct="1"/>
            <a:r>
              <a:rPr lang="en-CA" sz="2000" dirty="0"/>
              <a:t>MeshLab (helpful)</a:t>
            </a:r>
          </a:p>
        </p:txBody>
      </p:sp>
      <p:sp>
        <p:nvSpPr>
          <p:cNvPr id="6" name="Pentagon 5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  <p:sp>
        <p:nvSpPr>
          <p:cNvPr id="2" name="Arrow: Left 1">
            <a:extLst>
              <a:ext uri="{FF2B5EF4-FFF2-40B4-BE49-F238E27FC236}">
                <a16:creationId xmlns:a16="http://schemas.microsoft.com/office/drawing/2014/main" id="{B3E9CF6E-D453-3DCE-A6E8-F5D2A14BBA8C}"/>
              </a:ext>
            </a:extLst>
          </p:cNvPr>
          <p:cNvSpPr/>
          <p:nvPr/>
        </p:nvSpPr>
        <p:spPr>
          <a:xfrm rot="2823632">
            <a:off x="7438706" y="3486041"/>
            <a:ext cx="1331640" cy="93610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123478"/>
            <a:ext cx="8077200" cy="1073944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dirty="0">
                <a:solidFill>
                  <a:schemeClr val="tx2">
                    <a:satMod val="200000"/>
                  </a:schemeClr>
                </a:solidFill>
              </a:rPr>
              <a:t>Some suggested books (OpenGL)</a:t>
            </a:r>
            <a:endParaRPr lang="en-CA" sz="36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08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9512" y="1059582"/>
            <a:ext cx="8640638" cy="3257550"/>
          </a:xfrm>
        </p:spPr>
        <p:txBody>
          <a:bodyPr/>
          <a:lstStyle/>
          <a:p>
            <a:pPr eaLnBrk="1" hangingPunct="1"/>
            <a:r>
              <a:rPr lang="en-CA" sz="2000" dirty="0"/>
              <a:t>OpenGL </a:t>
            </a:r>
            <a:r>
              <a:rPr lang="en-CA" sz="2000" dirty="0" err="1"/>
              <a:t>SuperBible</a:t>
            </a:r>
            <a:r>
              <a:rPr lang="en-CA" sz="2000" dirty="0"/>
              <a:t>: Comprehensive Tutorial and Reference </a:t>
            </a:r>
            <a:r>
              <a:rPr lang="en-CA" sz="1800" dirty="0"/>
              <a:t>by </a:t>
            </a:r>
            <a:r>
              <a:rPr lang="en-CA" sz="1800" b="1" dirty="0"/>
              <a:t>Graham Sellers</a:t>
            </a:r>
            <a:r>
              <a:rPr lang="en-CA" sz="1800" dirty="0"/>
              <a:t> (OpenGL driver team for AMD) et al</a:t>
            </a:r>
            <a:endParaRPr lang="en-US" sz="2000" dirty="0"/>
          </a:p>
          <a:p>
            <a:pPr eaLnBrk="1" hangingPunct="1"/>
            <a:br>
              <a:rPr lang="en-CA" sz="2000" i="1" dirty="0"/>
            </a:br>
            <a:br>
              <a:rPr lang="en-CA" sz="2000" b="1" i="1" dirty="0">
                <a:sym typeface="Wingdings" pitchFamily="2" charset="2"/>
              </a:rPr>
            </a:br>
            <a:endParaRPr lang="en-CA" sz="1600" dirty="0"/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  <p:pic>
        <p:nvPicPr>
          <p:cNvPr id="19458" name="Picture 2" descr="http://advancedesl.files.wordpress.com/2011/01/15.jpg">
            <a:hlinkClick r:id="rId3"/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889703" y="3069630"/>
            <a:ext cx="1584176" cy="1688057"/>
          </a:xfrm>
          <a:prstGeom prst="rect">
            <a:avLst/>
          </a:prstGeom>
          <a:noFill/>
        </p:spPr>
      </p:pic>
      <p:sp>
        <p:nvSpPr>
          <p:cNvPr id="8" name="Rectangular Callout 7"/>
          <p:cNvSpPr/>
          <p:nvPr/>
        </p:nvSpPr>
        <p:spPr>
          <a:xfrm>
            <a:off x="6203888" y="1923678"/>
            <a:ext cx="2736304" cy="1059582"/>
          </a:xfrm>
          <a:prstGeom prst="wedgeRectCallout">
            <a:avLst>
              <a:gd name="adj1" fmla="val 14101"/>
              <a:gd name="adj2" fmla="val 7583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400" b="1" dirty="0"/>
              <a:t>OMG! </a:t>
            </a:r>
            <a:r>
              <a:rPr lang="en-CA" dirty="0"/>
              <a:t>That’s, like, </a:t>
            </a:r>
            <a:r>
              <a:rPr lang="en-CA" b="1" i="1" u="sng" dirty="0"/>
              <a:t>THE TEXTBOOK!!!</a:t>
            </a:r>
          </a:p>
          <a:p>
            <a:pPr algn="ctr"/>
            <a:r>
              <a:rPr lang="en-CA" dirty="0"/>
              <a:t>#</a:t>
            </a:r>
            <a:r>
              <a:rPr lang="en-CA" dirty="0" err="1"/>
              <a:t>mindblown</a:t>
            </a:r>
            <a:endParaRPr lang="en-CA" dirty="0"/>
          </a:p>
        </p:txBody>
      </p:sp>
      <p:sp>
        <p:nvSpPr>
          <p:cNvPr id="35842" name="AutoShape 2" descr="data:image/webp;base64,UklGRhwfAABXRUJQVlA4IBAfAADQsgCdASoEAVQBPrFMnEmmI6ITCc50ZAsE8bb63DH7l7avqQ/6j+i7kmb/qN+fIx5LvgebvZN9Nnli9Jfndv+pvU3q8dFR6zn+hsM2ll66GMv43rJfwuNGdN654X/2jv6P8P1Q+xP+P9wD9W/9R5WfjD+lewN/PP69/xv8T7KOiJ6z9gn9getl+8Xsymi0IzWi6ywneISNKWj6LQtYtfDvV3XhIy5j9qYwKd3AfYg25qw+3xdM70SVD0JTMaNAcWvzoFK8UlmJJypos9AEnCee+uRPDZuMicUD1p6iMI4ITiuVaf0zzwDDbYNjVs7Eeyqz8UO03nt0zj7nTq3jQBMJVzqmCT+6OjDFjJvedWjiZJd9yJ4a+fhf01arLNWthd7DcRpzTMqvWOOQAPnq770Ox3iazdwhksySGqUYnJwYiAaZ1Q/6FFNvghuEn14AYmrCMdlKhxzXkXp6GHUklvDzHdkEHL/iOePvjZNXfDL/05gNtCj3Jy/9fGZ+dry1nKnWUG1jF/E9wtWI8nfsLzrT3I/2FlDequCLExfU/Ig6sm9WJ0OdYH7DSY+q7+dz37rbaiUuIkwuCJ/QlIB2HsulHuksnL91u4s779ed86RqVMZMa8u+h8LqVCH5TpDZIzutqJd5G097CCgIp4SbmGWdiFm2bt+mATK3m5OgwJOgdL2DtjzHu72QF0dAV9ZNgfahD82HYQwA6R9pZ4D4kDQ+Cv+MHHWSGei8Kc/tPRBUW7vWfRcJuLXZpwr0k1q5bbceEv/fH1j8/RU0EDWQzaKAayg3imyfxxenOO1yA+HXnqsZUZJX2nib0gygntGqNjByue471FcvwvxgRc9TQ5uqR0f7CEqq+zif9Zfd/tqi/hoQIw6n22ikss2MtXfb3qA8tqRziOyMJOWp+InqF9QY72Jd+eKaWK0ZiJrNz+n6/MOLy+hesOhxZYDm7YU9I+uvi38A4I0+F8HLJakFBrWS0/xLmpxRjSRXq/BS5J4GVbarwWF7IBpR6IgiiGXeFdPwSgZAYro8WQCYPKy4MTOxdWa5Awrbdf+/VCjjc+fsLuPq9S2ZPTcYT+kjyEZugv3lh9iUEiTzsabcReuq8vyLjXEWD1C64A70H6dWnX4TnL7kXxorCNe1ghgecmfi+u+aZ0BvVNIi44E/Ge2o5KQ7vVMHHP/3JZFdBhGCY6lz3jhmVIXE55Q735LQW/n/u9b4iCmLTs0kRMKuUsmd5YLe1ibbQfs38gaPSyHtecN9xVZfgEWjKIbCn0h1W2Hcdr6HZA2uswjf2XOCyrTTo6f/+HfPxJabwn4pZ+rqYV90EODt59uSC9Kmqt6InRC6YqOHUrpgq17YZrLB00bS7S2JciUbhFN/0gnNuaaw9qtxm9Cpfub/p9rympDvk4RD71qY9bS2gfGV9OOO1IFkJLR9RwxYDU4jjm+wTuPusEMGrDN2J7wcXijyYL+MnHVEEvaYVji9EUuOMwJJNYsYK8qR8kHAAkAYxTJyhWXsVEQujzsb7EtqiV7N2IHneIFmTxTGeWw5sIIGORvbLv+VFbebuBGztru6qvfNSyYr2EIqCplwLYUjC+YEun/5dSnLHd/akaRW2KF2BRxUlU50F3xw0tLEdYqZFRe8llAWbVK7fhb7xa+D51ERdHMMkCwfg5kDMWZ2xQYtqwFMhwBvxlEKaQtXKaKF8DJ//SEmxMcv6l9aFH2H1/Gkm1IHpWxVyTpNREceLATq1jzuxEZWscsa3ohlZaEmHnbUAwaFoh2uIrT9wbJuH3B7DHEzjeL06T0cgJdKu18TzMMz7eCAIcD+Paa4D+94mVfFaA/ijbxjBQSIjw0QpzmlYLAsjz+1eSu77YJ7tMJPCQkiwEahAdP25ef3/Odzq7QitrsjCskU3Z9kMz/qqxFVDlKCIPrQAAD+17J04Cop8V6HteL3221/zjf5nLdz1/ji+ooB4Rq+ue9g9TsBisTLadP3seC4QvuHNXdEKb8i37U+Xj4/TtU6oDGPhkK0KEK0J5qa9RKTulDOSbuIxdDkJ33kUEzhQUzs34OGmh9qpM+s3bilkOHmc/JlZ2duUdgaBb426+EhK8SPKFH4qJ8EGWYeEvK+K7EN46y8fOZzmsPCoMvkuoQckbW2yQkDrL+/hcfAt34UNjwzZ7UsK4C20daMRMI1ioZvYqlpNaL6lF8onkpIiowrprtyPCQq49v55hFohsmzbOh4FJlrtsVD1apWWUEh4TPE+tR/NBLcSxOQuEDcsRGld+9kPj/x8VxRd1is1hxYf0AtW0Y/yXW5/Q/dcpD05tz2v7k2W6vBxEp7aLaj8THjjeMPn1G1sowJJOE0Jj4zritjQYPK4Zb45tU7rkvrZnfDqmCFR3siIsnS584K4gNZwCknZ270zX/ghCFZf0UgRIlqUIaLmucXJTt2nRsnxNy0VGP8A0CAFsV0lkpdGjvEtjYE/4u0Dc10Tn0L72aiCty7lRZ0Z9sEwymv2aiort2o9bO13+Gro56V2WMSPnvTfU8IostJGqiXf34ZWMszEd+9Nmw9jV3vRnKmJGfSWfSY3u98XyJ9MJooxPV14C1yS7Mjk92xHvDHZtUSbFFvT7nq2wnq6yz5wgp5ZYBzanhwxA4lt17seIzXfIQoXLnwudNyHxWfgHTIyKkJUMgzR31o/74M5cqJuMzDb9SCQbxFy9k+PzVAgP2oeiqUX4LdugTIA0WiFJUvfHpI9a0HQSErGBUqwPz/EkwQFmJ57zk28MV8FhfQuYC8nmfNeUapg1ojRHqH0qTJtnimhBziGqgfcXSoUeJqtJnUL3kkcmCa6LeuU91Hpb6GEVyBssamOOE5xwzmsGB4pn4K+EU7A45ruMIsF5sIjuq/usaLNp200KL043jKqhIK68HzhU3oNNnXgW/EaXQwtcCmXEuFWL/yr+kZEW4UNpT/qLvUIJPBve5igzpPZ1e4w/sQbbhr4BQGHl8l9oD1nAdbFssPVul15sPxBU12ZRxs5dYARLWBDsY1vGVwG2m6O6yoNrin6zIreudzHhaRbMrwDty+tMsuKV3tBuWc9HLhtkc/bIf9nq8dpHk1yQKTqUcCUsY9dt4gkc11O5gYlCSKUKkJ1A+ulH230oF7+DYp6U44XL2Suye7XXmPm9V/SwaWbsw/P1zdL0RWb1z9rkP/ExWmN0rEN+P/iQdoFnPfWSfx2L+BKUKkykTDHT3Du/lmTYta95mBLwgvYIWNZ+XtLEoRLvZ4dchHijwmxZULrTKN2pIJbjtTI63g3s4t4sdZ0sTTotBb+FP+RYahZmVbc2TBgD0IhnnDZ0VJ87WoA5vVfrF8vUATPL6nzB++FLGU62AZ3H/+fWNR+/e087Lb1rGJAbI5p2af+bogVvMsN7B4OuMWpwyyyahQ8aT2CnVxf985sT9aNDFVWrLj7NVQOEMZGffMeyGrp+2O17CpLV35AaD4F7ahXEqcIwZXAecCKDBoDdywdOYANGN/tTtM4Tz+zfM/N24SjEUXnGFd4zp8cvOF8vTSZQSG3bevWM3RyGA2dASaZoew8bXDEIQW5TiC3nFPA7/Qlx1M1dlmfI4Qw1vllevWeRcPOSnBhFhaj/zNn8VE4/cuzwVRs1Zd8iIf5bXrepiobj052mdG7AY0MRAtF7OJDVDrlgWWhjGtWkV8vEnP6j1LeJhZHhmoIHLqr9SpUt+/4qfa+8dJ2TsDH9VNHCK7kWJTGUB0tBNB8I+OpR7nYExcaXNSH2GJ2cAlYGbO8yPrzfVpR3F5iw/dmcYkFWUvuvpKkNuuRlZSIT5Jwt3uyAl1svv7vEDEJfiESAwRNOPND9L1ye2Dmo+t82htxxSxuTY8DeOU6j4xxN0dtEMYLV/+VM76EQPJOXia27QhXRzH/6zoDx5DcFfY5HPC8FFMeHWGza5jqzuNh7W3XK2DYOwg89EztBll+7MYPxZxa7jffu0FCJ8ellnQlVdzDaVare9NuBVw2Vno9DFdy6TX/hzNhaJDDQFD6Vf7Lces3X+o95O/4S/U1Iem67WH3XnMz097sUyByA6hljvfUE747m71mPncw0x9yV8CTFHvXLPZcCKE7P6T4G4OnyZ8ipXmFGMg5x7t7v8SaoXXPf0h5K0NDbLzWagfa88GJO4kQsHzribAnOgOhf1zGcqfCqdhW6mMLIzlzhHIpPI4Wm1KtF7yuDVBB3FgzoF6DuBMIPlcrii5kRHYb6/IaplcfqGbDErumFBijK/sH1Ibj4ranekiTTSeh1fkqIHfN35vXaILc18lvdkZr6HmHdPsaCe/qva4VsNx3YlFtIjUUBZfh5jhWqz2W07SA7TwZYOZ3K+qte7t+7HUntDI9Wx7UQmv7AWPf2aNZzj8PsPwNFiaI/oLb/KFPwFjVHPMOfwu6a4PwuOJeGgBHTwokVvIYOTiP75MNOmPEsvA9v+QuFF65dYiUoQM0OSFThwKVhtkEkDMV+K9iZ9Dc749kXG/CO/Pe2q45IHZtO2ldA20r0NYnlfUKVfwsOcYCBp4sk/ISA77fiRQ5GTPAjT+K7VlUjFjLQ5xLJxGhCRnbkGCJkIVsCboLKvkaCY+YNo0IN5Ivw56O2l2+OGkW1IsVrq6XFKv3DiYj55md9rKR2z771NdNGIn7gYqEGV1dxeE76+ZoMGuBeARx0r0Vl3FObMt1TBCJQOes8r4psdCQA4Y7t9Lq86D/xS1w01geWVv+5OVCr12VscaHYkjsZ34jQX8+SF7rasDVOpmTJONR5atjQAy+Q3ZX4EdbONQTyylusI7hyPuCsybFCwS0iDxw8HK6KEivrs5wgX9I4+m2qU+Fi7DJMehTYu82tE4FpnNBRBxA95ccyeEytca+halanJPjd63oPp1XHsLfG45ECkaSaYmQvwYAvyofoOTHIuWzqUXiG2PkUALYX7gl9yVrh+a/KlnDIbFT7ttI0t6cUgHjPC4xpPgAXDnXq8TdN2k5xFDCO3mz8siTWfVQGWPjsqbaDerJ42HlJtCKEwuOyXSuV4W4WWYFKwthgACTo9aS63QaS66LnK4C2AvTy1EMDpSVXcWjKrWoY1VZr1TZIhCumjTgVtvgpT3vGcO0ORVooOiXb1BY/dQAnd3bdsdB2d/QEoboL0yaQJicmbEGNKGvcsq9CIDZwRCynheKSD49noGiL/2xqJ0nxuTltNVRSkRK0rNfoe4DwmSMc2yNKW8XuyVQyZtdFrcCuBSqEs8UcB80rzu6TqBgQXt9CSJC8c5Rm/vB4/Swocyynmq7WJ8mJFQm5rS2jjIvIsl8WA5epVPfHrjbf/tdNDFzsbb91sp7kBZNBm5KauPuDfwqZYlC69+oSE/27IoCVpB111U2UtaPNgs20jxAheTTG67U6KKsabRiy/7c1k9dJ2aa4zqTGCWXgx+bHPZ2NCjHNQQZa9hLZ1GFvg3Ju51rjz7IizzSW3dBWl3F20EyqJDhI3Y8+7w4lME5OgOtD+6JwNk2Z4cPkBhnH7owPUtgBMkr2EvQQXsWdZ6NKYa7IAn0B1/hgL8w8/rAP+OqMo8LGv8RzWsyIjEv/eb3pUII0fskNosWOHjgbGYLpfnyi7hPn6nU4xkN2X2dFM+c6fak2rht+8nOWp5bPI7BYq1d3iXnk1+eqFybhULnP1sTdjB4QoxjMoJPl0GbEYOcEvrn8fGz8Z7Qk8+SQKSTMfvuglCDOPPY76SaPdoKVIIuTorQPJoyp134frPz3LqL0lJF4PH4Ui5M+K32uoS3C1ApByc6+RkKMqjJJWzIMdFvNIpp8IvnsuI0eIUPOxOD1N2qFSNJdvnUl/ydTNRlvWDQP0nN46ppmJNtMbMKb1OvCnwXkPqMyv88T8veaFV9fPmozNaIJjRxjGNKr3yHeBLHsawhwC25ATyaLC6X5k8FftXg2dtrx+2jmAgRA34dvnUyjPrL9a5b8206PJo3+sIpcBXO4/Clx+F+JoU+Qoh9ZeUM9hR2geoM5UDJTWI7G/cgIJoIcDo293hXhM+7cUn0CTl6qsHQXGH3caNqIJLk7f3mDHZzVhBACRHgjErr0E+hBlr317w/W0Eja4oKaDPHSGbTNSJVqf82OGzV9jY/aDzPs3Cc0ufy6ZexsffSd/1AxLxXVFg6lBq8r7F0Xd/+tak7xZd+rysk3yWjOLAGMnx7zK6UZY2i7Niav4/gWmQcqcyAvEVg0sboIMvcbYuLMIvaH9CTMM2AGum0QVyV+2VKqg1m48zm22f+RlyCiyJfgmqLYLn+chHub1WxCN0hsZ7Hiv4IrtxJjqfSBwDLQvnqFQwor6nF/1nwRr6vC9omoALjXiHIgIV6yADOb3hkS7wu4Hw+MP9zfHPC+P4MPCQedMIK1XsO9wV2r/HuzX+1jOKiHJe3IKV4zZPhq89YyZPMY2Yu9JTIB+YfYmXm6d5C7kFBKssb/HEIpzZilHMaQ7ERL0SirLXdCwCwnmtGRW0TURPAKOqyg9ouqyFzTs13RMInQWPVAT+BaxTMlMMolFPFFcPf+1O1bsV8ndJZx8ZnejLMYXyfy7pOhiqMTg8zyKp1lLZhJvDpu/11v11Xz/nU2fLTg9Fi0pWxMdpdGrFGx5GArS7FeehbPemoRrcwNrxpQbs6OuX1ZdkyniQmJ903fTPXzCFVpnjLHnuEz0YypmJkPqmW967tB+oOkLvfx4bgHC3SHttHKHkFH3poQkIM1HSMYn+kQqYWPalPDBFar4BwAefrPZgRBl/UgrlFDYtsmleKmQEANbTopbJ8pqxqp4rZIynXY48vjbZSpC4IOQps72IkXE6nnYUzIi1rIwbLbT/T//i14yosPIRZQvr6vH7Ptt9vfK6FIwsXOgdEXAp52eMJG2jwEqoALfBvPhQbtryA5j4heONz01UEhprVrQ3ZtgdGcGh+RjzqFebWfBLyntrgjxgvmiCgaqvrSc1Ekq0XLzAbJzy0kGNNesWwVtQMIta7dAllOvjpNO/WUmTmT2b8Uf8glL3Ml1jEDbgjnXeDpY0svGHg/1PbAL5Yk4DQidrv/XiKHdmpjxzWVcvcOWqe4XnEBZvowRU8sKzyl7ctDmFxKrnKQ9pVvN/8566btXDiLsJKh8EG879aEu7tWF+dQYDWVrCwJaphO30ybyyIfb3JnsaGhHLdlE/LaxQ/ljTcA3iVC7g6oRVUmiZDKWVd2ztX3qxcdw2zwjZVlgNT2mkMQHPk3PMwxPQTg9DuMMxiKHiDINbYPTOaWOZ7T2M+E63hqnvAkGEaAstq4YzWlMu8tvm5g37hdHreMzmpsI9/eiyMzjljOABFMiu2qoxuOUzkMfclneqM5x1c0ccJaqj9e4iIR3EWGlkOX3tnErOlzX1WfexdPtTzWHpEewxVCtndrYteWTlCIme1GF1+X7D/DLlotQngMiwqmju+BykGCwMLC0uoZK2xsx2TC8wORCMVobjvlMBJEQS2yPsf2RuD9/ZINchFOPNFg8a0fIwO3u1OuYULRlxvy/Et+cTksXn8LeH9TVEKQ9A0B8ZcXfdxkAUcrNA3K2v6Yh2G1PNnkI082nbI/T5Qr/ntj+/yKrGJBB6ngI3IjJ2owhQesJ6tTOj9qCsLk8D2SIM73u/0FL8eHoDMozQ9oUTO/3rTTSAO5ulYgyFIqDR2LxinbprhjdOpxf1X66IoYVGYIguDjuZku06RjcHOYYPT/1EAK2a9DpiD7XGE4x0OsSs+/hUtbwxX/yv0fol5Oa3AMOcMbJMrtNqze9s0VwMDEVJJ/yTOeMy9u7VIdjlu8MCWmYoyyO44PP5UOrfgdZggJo0aH957XWAnMKBWneOGCMhPewXzALQriD0shRKb7Nk0LZhdr9So6e9mC0xHTXglKZHqllszK5ozvmzbboL/nSac5EpDHAOjq6Hzx+vlxX+DjsRxz1Znc+OwLEKd8E+1BVB/h3gcw/yAssdmqj32UCOxLgrWTd6pN08fLTo/Dofs7yCNtaCLTdwvjstia0BZqq+zs6gfsJLJIBAugncG36kk1BI0pTWb9J53LtBhWw4hzd9g0Sa32TdnQL8GwAF9DgXWBRmIBoLqIbjyRpeTjcy+TuUS5i10+t5FBKLuSJHlajMvKFhWirPHsaJylqpPj5OCNrP1hjo2CtaUwP9+iC8dNLdzgYHvXpkSFvckJFOEwEjcU3LTmWg4jaRemuDFigrpRtwLGgWkfOsJU8JviX+1C1FyfRMguV6Ba9F/8LHT0O+sO9rKAP5M0O5e6NAxmR92mAFXesdDI2g6PxTRly6FSDxB4eJX0p3S6HMSue/2BfZpAROgJzB6ZfEdbhsVJx70Q6CrML1oendGxWeG/NpMr/GQzysU+ZWhvXwmUZmDkmnAGFgaYpVVbT6ookIdwJmB7LqMLjuYDRhr5fGvn32AHsVzW2OUBP7gUl4AgPBlzMEj38qBbfTtbiAizAnECMY2CQV0CbpfixVRumY68eVzHpJx3rdiwJZLCic17N4ygMHTKx2UrPm4bk/dZ6RxeUVMxa55r/Py3lyexDPwA7U/LNiPZdsZZ8nBX9cqrLaiPQPfolEWUhCKL2CjuQ8LRRDlhxlzTQ4dCbWP3qBuxqtSAxmviIbOTTyYHh+KA9rfmZ1RL7OoiTB9ngD/8b6TmaQp6RZUgxAYeUcPvSQtG1hTou129qdrqFTPtozpTA7oNGYNxQ9MBw/Ko2QmsiBP+iyLEn9E74r5gjGK2jXaj3Mg382oP1GozootaNscdzbDn7PgZtcJgR3ctZIM1A/asJQseRBlBVgs7DO38EY2phCSYzhZ1q/3hRTilIybFCeQbgweGJ0HtMokQOgSHGnBBlbIN+Py9VC/r7IsruBwv9j14X2Gfs9h7kFEprpnYslQkMitetalnnY1R0pd2Xr2Duz3D/z5SFyoFvIyL2vgvO5yGcprmIrF+G+G14oGSx4yK+4No6UEfVPraqeDoNRaImXsLa6tsMFov8L2YwzCvJiJ6I8tErkbLljSh46QS9WEOkn4VysyywMfAb50jgJq8iZ4wzeDfOQbxKKB0SX397Fz81WhuP2QQIiPCKCVp8LuHSmRlRhshTOEcZAeLH8TqWCYxbwPGyelGy3enjoD1LaKjoXmbV8wZMnhcTCfpmjCYjpBAunffDza5g+phuB00LB9rCC9h/SlZ0dh7QLyl/jokn2/HMhL7ETiV+kTU9yE+Xf3Pv6eT8/IuSsDD5t0uJFp9/9R0VjjG9d87DfJE46AujkFm2+QAULQbsvsCsdvdpC3H6g/G0os523lV1nVUvYqsarxse7X3kTdvD+IOWk9xioYbTHE6zYsh/cQOtBZ4pXaAkMF72b63HyarvYSpPxN70IB1Q4gRmwRx3U14Nrr0PJ7+UY5UPIliZtHJsgwbfl2/KgjvUSZusmtWlh1o0PUaPSAowKFAC84gM7JmyuGRKxYkIw33odhiRsZJl4wln0q0fdHYniAkYrZhb0sqGwL/3D7s+6YCw6OensLB0y+x3d2Y/8heRmC8QpIN5IE5/SeGko+6DDCLZaV6AT2g9RznBrWcbS9ciJGuev8tnttu0gc/xB6O5Du9+7zgKtNSXnOMYyknl6wqkH42nTq4+GDBN8BTQhxDlPmPZY+GXX7kZdy7kX59qRlh33LqcZdiEr/se2v8AwanzKFI9CnMXnj0cVWmNT8qzxDmXRwS6JC89oEjxNat/BgOyhz0LM6Y3wCu9qAxFx1af4Enj9EZMLa5BSF1fKwn+BBJmcjCpBltAvc7Fquwmd+nZ9UrO2g0ZN/fZFSHNJPYP9nPZdEgJpP3yuQ43KrMj5t8uSrQtZRDqZapHYJzHyph99z/UzXE1AY59mQVDXl+pAmDro2CfJB8vtREt/5Nz7gaak06GNzitQnFZZs3knih8eqMZIh05iU97A4jHkijJtyb9eT3F/WcEbhPaoCcaFzzmIT/marwL21WpC7dc+VP/Qsi/Je/em8WF2EgVwwMTI1bEw+0Kjmz0ilnUH51QGtOj9WPUIKVc+qjkRW/d4BOBZjYTcvSS4mkQWn6S4JlNjSgG8wvJYEM9vV1jfIfLxwtWgGExfWBM2rTaxZnP/8vgQiGuV/z/DGYJK85DE0ZUkjPu1yQSEDlXF2s3c/GJtGWZ9TSHdnaAG/9ESrZVzpsdeCsd44URDq4aVWig8DWfkaxjHDpDyw9N4uIYbQlJbxrGzQTBUPhKzHMJL+cBYWLAPb4h9+PYYK8J26rdyohSMb7uz5Vnfxh8JvO4FZQR536Rmd/YxTlr3yFUcBg4kOVOkJMEc+mSK9zLrZXLDAX171PIX6b9Zp8c+Xr13ArxiUx6FfyVrzOD2zuNNdD87T7QyvQnyqsyEpaZJBpzCkUh2NF6324XWvFeKfiHi8MBpDEHYr6Y4Lv5mVS+c/63p9mqGBd2yE8JspOQzc4zanLdXl1TjuHXI5kxvRFhby3QdASpsgvbwDHaaGRVETyKFtWpNPVNuSK/WwkZ3AH6xGZoyDOKARQ3iuMxXcVImU/P3zZt6SAWcNorLFmXJxVCzh2GcxLTbBClK3HVsqzIpFeJXbS7Af8s6xFBGc4wSrKRbl1CSRb1MAjMA5/AtBYwAoZjG+Miqg0v8EvfMx7IwXgAAAA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5844" name="AutoShape 4" descr="data:image/webp;base64,UklGRhwfAABXRUJQVlA4IBAfAADQsgCdASoEAVQBPrFMnEmmI6ITCc50ZAsE8bb63DH7l7avqQ/6j+i7kmb/qN+fIx5LvgebvZN9Nnli9Jfndv+pvU3q8dFR6zn+hsM2ll66GMv43rJfwuNGdN654X/2jv6P8P1Q+xP+P9wD9W/9R5WfjD+lewN/PP69/xv8T7KOiJ6z9gn9getl+8Xsymi0IzWi6ywneISNKWj6LQtYtfDvV3XhIy5j9qYwKd3AfYg25qw+3xdM70SVD0JTMaNAcWvzoFK8UlmJJypos9AEnCee+uRPDZuMicUD1p6iMI4ITiuVaf0zzwDDbYNjVs7Eeyqz8UO03nt0zj7nTq3jQBMJVzqmCT+6OjDFjJvedWjiZJd9yJ4a+fhf01arLNWthd7DcRpzTMqvWOOQAPnq770Ox3iazdwhksySGqUYnJwYiAaZ1Q/6FFNvghuEn14AYmrCMdlKhxzXkXp6GHUklvDzHdkEHL/iOePvjZNXfDL/05gNtCj3Jy/9fGZ+dry1nKnWUG1jF/E9wtWI8nfsLzrT3I/2FlDequCLExfU/Ig6sm9WJ0OdYH7DSY+q7+dz37rbaiUuIkwuCJ/QlIB2HsulHuksnL91u4s779ed86RqVMZMa8u+h8LqVCH5TpDZIzutqJd5G097CCgIp4SbmGWdiFm2bt+mATK3m5OgwJOgdL2DtjzHu72QF0dAV9ZNgfahD82HYQwA6R9pZ4D4kDQ+Cv+MHHWSGei8Kc/tPRBUW7vWfRcJuLXZpwr0k1q5bbceEv/fH1j8/RU0EDWQzaKAayg3imyfxxenOO1yA+HXnqsZUZJX2nib0gygntGqNjByue471FcvwvxgRc9TQ5uqR0f7CEqq+zif9Zfd/tqi/hoQIw6n22ikss2MtXfb3qA8tqRziOyMJOWp+InqF9QY72Jd+eKaWK0ZiJrNz+n6/MOLy+hesOhxZYDm7YU9I+uvi38A4I0+F8HLJakFBrWS0/xLmpxRjSRXq/BS5J4GVbarwWF7IBpR6IgiiGXeFdPwSgZAYro8WQCYPKy4MTOxdWa5Awrbdf+/VCjjc+fsLuPq9S2ZPTcYT+kjyEZugv3lh9iUEiTzsabcReuq8vyLjXEWD1C64A70H6dWnX4TnL7kXxorCNe1ghgecmfi+u+aZ0BvVNIi44E/Ge2o5KQ7vVMHHP/3JZFdBhGCY6lz3jhmVIXE55Q735LQW/n/u9b4iCmLTs0kRMKuUsmd5YLe1ibbQfs38gaPSyHtecN9xVZfgEWjKIbCn0h1W2Hcdr6HZA2uswjf2XOCyrTTo6f/+HfPxJabwn4pZ+rqYV90EODt59uSC9Kmqt6InRC6YqOHUrpgq17YZrLB00bS7S2JciUbhFN/0gnNuaaw9qtxm9Cpfub/p9rympDvk4RD71qY9bS2gfGV9OOO1IFkJLR9RwxYDU4jjm+wTuPusEMGrDN2J7wcXijyYL+MnHVEEvaYVji9EUuOMwJJNYsYK8qR8kHAAkAYxTJyhWXsVEQujzsb7EtqiV7N2IHneIFmTxTGeWw5sIIGORvbLv+VFbebuBGztru6qvfNSyYr2EIqCplwLYUjC+YEun/5dSnLHd/akaRW2KF2BRxUlU50F3xw0tLEdYqZFRe8llAWbVK7fhb7xa+D51ERdHMMkCwfg5kDMWZ2xQYtqwFMhwBvxlEKaQtXKaKF8DJ//SEmxMcv6l9aFH2H1/Gkm1IHpWxVyTpNREceLATq1jzuxEZWscsa3ohlZaEmHnbUAwaFoh2uIrT9wbJuH3B7DHEzjeL06T0cgJdKu18TzMMz7eCAIcD+Paa4D+94mVfFaA/ijbxjBQSIjw0QpzmlYLAsjz+1eSu77YJ7tMJPCQkiwEahAdP25ef3/Odzq7QitrsjCskU3Z9kMz/qqxFVDlKCIPrQAAD+17J04Cop8V6HteL3221/zjf5nLdz1/ji+ooB4Rq+ue9g9TsBisTLadP3seC4QvuHNXdEKb8i37U+Xj4/TtU6oDGPhkK0KEK0J5qa9RKTulDOSbuIxdDkJ33kUEzhQUzs34OGmh9qpM+s3bilkOHmc/JlZ2duUdgaBb426+EhK8SPKFH4qJ8EGWYeEvK+K7EN46y8fOZzmsPCoMvkuoQckbW2yQkDrL+/hcfAt34UNjwzZ7UsK4C20daMRMI1ioZvYqlpNaL6lF8onkpIiowrprtyPCQq49v55hFohsmzbOh4FJlrtsVD1apWWUEh4TPE+tR/NBLcSxOQuEDcsRGld+9kPj/x8VxRd1is1hxYf0AtW0Y/yXW5/Q/dcpD05tz2v7k2W6vBxEp7aLaj8THjjeMPn1G1sowJJOE0Jj4zritjQYPK4Zb45tU7rkvrZnfDqmCFR3siIsnS584K4gNZwCknZ270zX/ghCFZf0UgRIlqUIaLmucXJTt2nRsnxNy0VGP8A0CAFsV0lkpdGjvEtjYE/4u0Dc10Tn0L72aiCty7lRZ0Z9sEwymv2aiort2o9bO13+Gro56V2WMSPnvTfU8IostJGqiXf34ZWMszEd+9Nmw9jV3vRnKmJGfSWfSY3u98XyJ9MJooxPV14C1yS7Mjk92xHvDHZtUSbFFvT7nq2wnq6yz5wgp5ZYBzanhwxA4lt17seIzXfIQoXLnwudNyHxWfgHTIyKkJUMgzR31o/74M5cqJuMzDb9SCQbxFy9k+PzVAgP2oeiqUX4LdugTIA0WiFJUvfHpI9a0HQSErGBUqwPz/EkwQFmJ57zk28MV8FhfQuYC8nmfNeUapg1ojRHqH0qTJtnimhBziGqgfcXSoUeJqtJnUL3kkcmCa6LeuU91Hpb6GEVyBssamOOE5xwzmsGB4pn4K+EU7A45ruMIsF5sIjuq/usaLNp200KL043jKqhIK68HzhU3oNNnXgW/EaXQwtcCmXEuFWL/yr+kZEW4UNpT/qLvUIJPBve5igzpPZ1e4w/sQbbhr4BQGHl8l9oD1nAdbFssPVul15sPxBU12ZRxs5dYARLWBDsY1vGVwG2m6O6yoNrin6zIreudzHhaRbMrwDty+tMsuKV3tBuWc9HLhtkc/bIf9nq8dpHk1yQKTqUcCUsY9dt4gkc11O5gYlCSKUKkJ1A+ulH230oF7+DYp6U44XL2Suye7XXmPm9V/SwaWbsw/P1zdL0RWb1z9rkP/ExWmN0rEN+P/iQdoFnPfWSfx2L+BKUKkykTDHT3Du/lmTYta95mBLwgvYIWNZ+XtLEoRLvZ4dchHijwmxZULrTKN2pIJbjtTI63g3s4t4sdZ0sTTotBb+FP+RYahZmVbc2TBgD0IhnnDZ0VJ87WoA5vVfrF8vUATPL6nzB++FLGU62AZ3H/+fWNR+/e087Lb1rGJAbI5p2af+bogVvMsN7B4OuMWpwyyyahQ8aT2CnVxf985sT9aNDFVWrLj7NVQOEMZGffMeyGrp+2O17CpLV35AaD4F7ahXEqcIwZXAecCKDBoDdywdOYANGN/tTtM4Tz+zfM/N24SjEUXnGFd4zp8cvOF8vTSZQSG3bevWM3RyGA2dASaZoew8bXDEIQW5TiC3nFPA7/Qlx1M1dlmfI4Qw1vllevWeRcPOSnBhFhaj/zNn8VE4/cuzwVRs1Zd8iIf5bXrepiobj052mdG7AY0MRAtF7OJDVDrlgWWhjGtWkV8vEnP6j1LeJhZHhmoIHLqr9SpUt+/4qfa+8dJ2TsDH9VNHCK7kWJTGUB0tBNB8I+OpR7nYExcaXNSH2GJ2cAlYGbO8yPrzfVpR3F5iw/dmcYkFWUvuvpKkNuuRlZSIT5Jwt3uyAl1svv7vEDEJfiESAwRNOPND9L1ye2Dmo+t82htxxSxuTY8DeOU6j4xxN0dtEMYLV/+VM76EQPJOXia27QhXRzH/6zoDx5DcFfY5HPC8FFMeHWGza5jqzuNh7W3XK2DYOwg89EztBll+7MYPxZxa7jffu0FCJ8ellnQlVdzDaVare9NuBVw2Vno9DFdy6TX/hzNhaJDDQFD6Vf7Lces3X+o95O/4S/U1Iem67WH3XnMz097sUyByA6hljvfUE747m71mPncw0x9yV8CTFHvXLPZcCKE7P6T4G4OnyZ8ipXmFGMg5x7t7v8SaoXXPf0h5K0NDbLzWagfa88GJO4kQsHzribAnOgOhf1zGcqfCqdhW6mMLIzlzhHIpPI4Wm1KtF7yuDVBB3FgzoF6DuBMIPlcrii5kRHYb6/IaplcfqGbDErumFBijK/sH1Ibj4ranekiTTSeh1fkqIHfN35vXaILc18lvdkZr6HmHdPsaCe/qva4VsNx3YlFtIjUUBZfh5jhWqz2W07SA7TwZYOZ3K+qte7t+7HUntDI9Wx7UQmv7AWPf2aNZzj8PsPwNFiaI/oLb/KFPwFjVHPMOfwu6a4PwuOJeGgBHTwokVvIYOTiP75MNOmPEsvA9v+QuFF65dYiUoQM0OSFThwKVhtkEkDMV+K9iZ9Dc749kXG/CO/Pe2q45IHZtO2ldA20r0NYnlfUKVfwsOcYCBp4sk/ISA77fiRQ5GTPAjT+K7VlUjFjLQ5xLJxGhCRnbkGCJkIVsCboLKvkaCY+YNo0IN5Ivw56O2l2+OGkW1IsVrq6XFKv3DiYj55md9rKR2z771NdNGIn7gYqEGV1dxeE76+ZoMGuBeARx0r0Vl3FObMt1TBCJQOes8r4psdCQA4Y7t9Lq86D/xS1w01geWVv+5OVCr12VscaHYkjsZ34jQX8+SF7rasDVOpmTJONR5atjQAy+Q3ZX4EdbONQTyylusI7hyPuCsybFCwS0iDxw8HK6KEivrs5wgX9I4+m2qU+Fi7DJMehTYu82tE4FpnNBRBxA95ccyeEytca+halanJPjd63oPp1XHsLfG45ECkaSaYmQvwYAvyofoOTHIuWzqUXiG2PkUALYX7gl9yVrh+a/KlnDIbFT7ttI0t6cUgHjPC4xpPgAXDnXq8TdN2k5xFDCO3mz8siTWfVQGWPjsqbaDerJ42HlJtCKEwuOyXSuV4W4WWYFKwthgACTo9aS63QaS66LnK4C2AvTy1EMDpSVXcWjKrWoY1VZr1TZIhCumjTgVtvgpT3vGcO0ORVooOiXb1BY/dQAnd3bdsdB2d/QEoboL0yaQJicmbEGNKGvcsq9CIDZwRCynheKSD49noGiL/2xqJ0nxuTltNVRSkRK0rNfoe4DwmSMc2yNKW8XuyVQyZtdFrcCuBSqEs8UcB80rzu6TqBgQXt9CSJC8c5Rm/vB4/Swocyynmq7WJ8mJFQm5rS2jjIvIsl8WA5epVPfHrjbf/tdNDFzsbb91sp7kBZNBm5KauPuDfwqZYlC69+oSE/27IoCVpB111U2UtaPNgs20jxAheTTG67U6KKsabRiy/7c1k9dJ2aa4zqTGCWXgx+bHPZ2NCjHNQQZa9hLZ1GFvg3Ju51rjz7IizzSW3dBWl3F20EyqJDhI3Y8+7w4lME5OgOtD+6JwNk2Z4cPkBhnH7owPUtgBMkr2EvQQXsWdZ6NKYa7IAn0B1/hgL8w8/rAP+OqMo8LGv8RzWsyIjEv/eb3pUII0fskNosWOHjgbGYLpfnyi7hPn6nU4xkN2X2dFM+c6fak2rht+8nOWp5bPI7BYq1d3iXnk1+eqFybhULnP1sTdjB4QoxjMoJPl0GbEYOcEvrn8fGz8Z7Qk8+SQKSTMfvuglCDOPPY76SaPdoKVIIuTorQPJoyp134frPz3LqL0lJF4PH4Ui5M+K32uoS3C1ApByc6+RkKMqjJJWzIMdFvNIpp8IvnsuI0eIUPOxOD1N2qFSNJdvnUl/ydTNRlvWDQP0nN46ppmJNtMbMKb1OvCnwXkPqMyv88T8veaFV9fPmozNaIJjRxjGNKr3yHeBLHsawhwC25ATyaLC6X5k8FftXg2dtrx+2jmAgRA34dvnUyjPrL9a5b8206PJo3+sIpcBXO4/Clx+F+JoU+Qoh9ZeUM9hR2geoM5UDJTWI7G/cgIJoIcDo293hXhM+7cUn0CTl6qsHQXGH3caNqIJLk7f3mDHZzVhBACRHgjErr0E+hBlr317w/W0Eja4oKaDPHSGbTNSJVqf82OGzV9jY/aDzPs3Cc0ufy6ZexsffSd/1AxLxXVFg6lBq8r7F0Xd/+tak7xZd+rysk3yWjOLAGMnx7zK6UZY2i7Niav4/gWmQcqcyAvEVg0sboIMvcbYuLMIvaH9CTMM2AGum0QVyV+2VKqg1m48zm22f+RlyCiyJfgmqLYLn+chHub1WxCN0hsZ7Hiv4IrtxJjqfSBwDLQvnqFQwor6nF/1nwRr6vC9omoALjXiHIgIV6yADOb3hkS7wu4Hw+MP9zfHPC+P4MPCQedMIK1XsO9wV2r/HuzX+1jOKiHJe3IKV4zZPhq89YyZPMY2Yu9JTIB+YfYmXm6d5C7kFBKssb/HEIpzZilHMaQ7ERL0SirLXdCwCwnmtGRW0TURPAKOqyg9ouqyFzTs13RMInQWPVAT+BaxTMlMMolFPFFcPf+1O1bsV8ndJZx8ZnejLMYXyfy7pOhiqMTg8zyKp1lLZhJvDpu/11v11Xz/nU2fLTg9Fi0pWxMdpdGrFGx5GArS7FeehbPemoRrcwNrxpQbs6OuX1ZdkyniQmJ903fTPXzCFVpnjLHnuEz0YypmJkPqmW967tB+oOkLvfx4bgHC3SHttHKHkFH3poQkIM1HSMYn+kQqYWPalPDBFar4BwAefrPZgRBl/UgrlFDYtsmleKmQEANbTopbJ8pqxqp4rZIynXY48vjbZSpC4IOQps72IkXE6nnYUzIi1rIwbLbT/T//i14yosPIRZQvr6vH7Ptt9vfK6FIwsXOgdEXAp52eMJG2jwEqoALfBvPhQbtryA5j4heONz01UEhprVrQ3ZtgdGcGh+RjzqFebWfBLyntrgjxgvmiCgaqvrSc1Ekq0XLzAbJzy0kGNNesWwVtQMIta7dAllOvjpNO/WUmTmT2b8Uf8glL3Ml1jEDbgjnXeDpY0svGHg/1PbAL5Yk4DQidrv/XiKHdmpjxzWVcvcOWqe4XnEBZvowRU8sKzyl7ctDmFxKrnKQ9pVvN/8566btXDiLsJKh8EG879aEu7tWF+dQYDWVrCwJaphO30ybyyIfb3JnsaGhHLdlE/LaxQ/ljTcA3iVC7g6oRVUmiZDKWVd2ztX3qxcdw2zwjZVlgNT2mkMQHPk3PMwxPQTg9DuMMxiKHiDINbYPTOaWOZ7T2M+E63hqnvAkGEaAstq4YzWlMu8tvm5g37hdHreMzmpsI9/eiyMzjljOABFMiu2qoxuOUzkMfclneqM5x1c0ccJaqj9e4iIR3EWGlkOX3tnErOlzX1WfexdPtTzWHpEewxVCtndrYteWTlCIme1GF1+X7D/DLlotQngMiwqmju+BykGCwMLC0uoZK2xsx2TC8wORCMVobjvlMBJEQS2yPsf2RuD9/ZINchFOPNFg8a0fIwO3u1OuYULRlxvy/Et+cTksXn8LeH9TVEKQ9A0B8ZcXfdxkAUcrNA3K2v6Yh2G1PNnkI082nbI/T5Qr/ntj+/yKrGJBB6ngI3IjJ2owhQesJ6tTOj9qCsLk8D2SIM73u/0FL8eHoDMozQ9oUTO/3rTTSAO5ulYgyFIqDR2LxinbprhjdOpxf1X66IoYVGYIguDjuZku06RjcHOYYPT/1EAK2a9DpiD7XGE4x0OsSs+/hUtbwxX/yv0fol5Oa3AMOcMbJMrtNqze9s0VwMDEVJJ/yTOeMy9u7VIdjlu8MCWmYoyyO44PP5UOrfgdZggJo0aH957XWAnMKBWneOGCMhPewXzALQriD0shRKb7Nk0LZhdr9So6e9mC0xHTXglKZHqllszK5ozvmzbboL/nSac5EpDHAOjq6Hzx+vlxX+DjsRxz1Znc+OwLEKd8E+1BVB/h3gcw/yAssdmqj32UCOxLgrWTd6pN08fLTo/Dofs7yCNtaCLTdwvjstia0BZqq+zs6gfsJLJIBAugncG36kk1BI0pTWb9J53LtBhWw4hzd9g0Sa32TdnQL8GwAF9DgXWBRmIBoLqIbjyRpeTjcy+TuUS5i10+t5FBKLuSJHlajMvKFhWirPHsaJylqpPj5OCNrP1hjo2CtaUwP9+iC8dNLdzgYHvXpkSFvckJFOEwEjcU3LTmWg4jaRemuDFigrpRtwLGgWkfOsJU8JviX+1C1FyfRMguV6Ba9F/8LHT0O+sO9rKAP5M0O5e6NAxmR92mAFXesdDI2g6PxTRly6FSDxB4eJX0p3S6HMSue/2BfZpAROgJzB6ZfEdbhsVJx70Q6CrML1oendGxWeG/NpMr/GQzysU+ZWhvXwmUZmDkmnAGFgaYpVVbT6ookIdwJmB7LqMLjuYDRhr5fGvn32AHsVzW2OUBP7gUl4AgPBlzMEj38qBbfTtbiAizAnECMY2CQV0CbpfixVRumY68eVzHpJx3rdiwJZLCic17N4ygMHTKx2UrPm4bk/dZ6RxeUVMxa55r/Py3lyexDPwA7U/LNiPZdsZZ8nBX9cqrLaiPQPfolEWUhCKL2CjuQ8LRRDlhxlzTQ4dCbWP3qBuxqtSAxmviIbOTTyYHh+KA9rfmZ1RL7OoiTB9ngD/8b6TmaQp6RZUgxAYeUcPvSQtG1hTou129qdrqFTPtozpTA7oNGYNxQ9MBw/Ko2QmsiBP+iyLEn9E74r5gjGK2jXaj3Mg382oP1GozootaNscdzbDn7PgZtcJgR3ctZIM1A/asJQseRBlBVgs7DO38EY2phCSYzhZ1q/3hRTilIybFCeQbgweGJ0HtMokQOgSHGnBBlbIN+Py9VC/r7IsruBwv9j14X2Gfs9h7kFEprpnYslQkMitetalnnY1R0pd2Xr2Duz3D/z5SFyoFvIyL2vgvO5yGcprmIrF+G+G14oGSx4yK+4No6UEfVPraqeDoNRaImXsLa6tsMFov8L2YwzCvJiJ6I8tErkbLljSh46QS9WEOkn4VysyywMfAb50jgJq8iZ4wzeDfOQbxKKB0SX397Fz81WhuP2QQIiPCKCVp8LuHSmRlRhshTOEcZAeLH8TqWCYxbwPGyelGy3enjoD1LaKjoXmbV8wZMnhcTCfpmjCYjpBAunffDza5g+phuB00LB9rCC9h/SlZ0dh7QLyl/jokn2/HMhL7ETiV+kTU9yE+Xf3Pv6eT8/IuSsDD5t0uJFp9/9R0VjjG9d87DfJE46AujkFm2+QAULQbsvsCsdvdpC3H6g/G0os523lV1nVUvYqsarxse7X3kTdvD+IOWk9xioYbTHE6zYsh/cQOtBZ4pXaAkMF72b63HyarvYSpPxN70IB1Q4gRmwRx3U14Nrr0PJ7+UY5UPIliZtHJsgwbfl2/KgjvUSZusmtWlh1o0PUaPSAowKFAC84gM7JmyuGRKxYkIw33odhiRsZJl4wln0q0fdHYniAkYrZhb0sqGwL/3D7s+6YCw6OensLB0y+x3d2Y/8heRmC8QpIN5IE5/SeGko+6DDCLZaV6AT2g9RznBrWcbS9ciJGuev8tnttu0gc/xB6O5Du9+7zgKtNSXnOMYyknl6wqkH42nTq4+GDBN8BTQhxDlPmPZY+GXX7kZdy7kX59qRlh33LqcZdiEr/se2v8AwanzKFI9CnMXnj0cVWmNT8qzxDmXRwS6JC89oEjxNat/BgOyhz0LM6Y3wCu9qAxFx1af4Enj9EZMLa5BSF1fKwn+BBJmcjCpBltAvc7Fquwmd+nZ9UrO2g0ZN/fZFSHNJPYP9nPZdEgJpP3yuQ43KrMj5t8uSrQtZRDqZapHYJzHyph99z/UzXE1AY59mQVDXl+pAmDro2CfJB8vtREt/5Nz7gaak06GNzitQnFZZs3knih8eqMZIh05iU97A4jHkijJtyb9eT3F/WcEbhPaoCcaFzzmIT/marwL21WpC7dc+VP/Qsi/Je/em8WF2EgVwwMTI1bEw+0Kjmz0ilnUH51QGtOj9WPUIKVc+qjkRW/d4BOBZjYTcvSS4mkQWn6S4JlNjSgG8wvJYEM9vV1jfIfLxwtWgGExfWBM2rTaxZnP/8vgQiGuV/z/DGYJK85DE0ZUkjPu1yQSEDlXF2s3c/GJtGWZ9TSHdnaAG/9ESrZVzpsdeCsd44URDq4aVWig8DWfkaxjHDpDyw9N4uIYbQlJbxrGzQTBUPhKzHMJL+cBYWLAPb4h9+PYYK8J26rdyohSMb7uz5Vnfxh8JvO4FZQR536Rmd/YxTlr3yFUcBg4kOVOkJMEc+mSK9zLrZXLDAX171PIX6b9Zp8c+Xr13ArxiUx6FfyVrzOD2zuNNdD87T7QyvQnyqsyEpaZJBpzCkUh2NF6324XWvFeKfiHi8MBpDEHYr6Y4Lv5mVS+c/63p9mqGBd2yE8JspOQzc4zanLdXl1TjuHXI5kxvRFhby3QdASpsgvbwDHaaGRVETyKFtWpNPVNuSK/WwkZ3AH6xGZoyDOKARQ3iuMxXcVImU/P3zZt6SAWcNorLFmXJxVCzh2GcxLTbBClK3HVsqzIpFeJXbS7Af8s6xFBGc4wSrKRbl1CSRb1MAjMA5/AtBYwAoZjG+Miqg0v8EvfMx7IwXgAAAA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pic>
        <p:nvPicPr>
          <p:cNvPr id="35846" name="Picture 6" descr="http://ecx.images-amazon.com/images/I/71bpqFdWaeL.jp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059832" y="2355726"/>
            <a:ext cx="1741639" cy="2278953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2000"/>
                                        <p:tgtEl>
                                          <p:spTgt spid="1208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9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208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835" grpId="0" uiExpand="1" build="p"/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123478"/>
            <a:ext cx="8077200" cy="1073944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dirty="0">
                <a:solidFill>
                  <a:schemeClr val="tx2">
                    <a:satMod val="200000"/>
                  </a:schemeClr>
                </a:solidFill>
              </a:rPr>
              <a:t>These are good books, too…</a:t>
            </a:r>
            <a:endParaRPr lang="en-CA" sz="36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08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9512" y="1059582"/>
            <a:ext cx="7200800" cy="3257550"/>
          </a:xfrm>
        </p:spPr>
        <p:txBody>
          <a:bodyPr/>
          <a:lstStyle/>
          <a:p>
            <a:pPr eaLnBrk="1" hangingPunct="1"/>
            <a:r>
              <a:rPr lang="en-CA" sz="2000" dirty="0"/>
              <a:t>They are </a:t>
            </a:r>
            <a:r>
              <a:rPr lang="en-CA" sz="2000" b="1" u="sng" dirty="0"/>
              <a:t>NOT</a:t>
            </a:r>
            <a:r>
              <a:rPr lang="en-CA" sz="2000" dirty="0"/>
              <a:t> needed in this course!</a:t>
            </a:r>
            <a:endParaRPr lang="en-US" sz="2000" dirty="0"/>
          </a:p>
          <a:p>
            <a:pPr eaLnBrk="1" hangingPunct="1"/>
            <a:r>
              <a:rPr lang="en-CA" sz="2000" i="1" dirty="0"/>
              <a:t>And if you are </a:t>
            </a:r>
            <a:r>
              <a:rPr lang="en-CA" sz="2000" b="1" i="1" u="sng" dirty="0"/>
              <a:t>really</a:t>
            </a:r>
            <a:r>
              <a:rPr lang="en-CA" sz="2000" b="1" i="1" dirty="0"/>
              <a:t> </a:t>
            </a:r>
            <a:r>
              <a:rPr lang="en-CA" sz="2000" i="1" dirty="0"/>
              <a:t>into graphics </a:t>
            </a:r>
            <a:br>
              <a:rPr lang="en-CA" sz="2000" i="1" dirty="0"/>
            </a:br>
            <a:br>
              <a:rPr lang="en-CA" sz="2000" b="1" i="1" dirty="0">
                <a:sym typeface="Wingdings" pitchFamily="2" charset="2"/>
              </a:rPr>
            </a:br>
            <a:endParaRPr lang="en-CA" sz="1600" dirty="0"/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  <p:pic>
        <p:nvPicPr>
          <p:cNvPr id="19460" name="Picture 4" descr="http://fabiensanglard.net/Computer_Graphics_Principles_and_Practices/books/real-time-rendering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6230" y="2084760"/>
            <a:ext cx="1224136" cy="1846996"/>
          </a:xfrm>
          <a:prstGeom prst="rect">
            <a:avLst/>
          </a:prstGeom>
          <a:noFill/>
        </p:spPr>
      </p:pic>
      <p:sp>
        <p:nvSpPr>
          <p:cNvPr id="35842" name="AutoShape 2" descr="data:image/webp;base64,UklGRhwfAABXRUJQVlA4IBAfAADQsgCdASoEAVQBPrFMnEmmI6ITCc50ZAsE8bb63DH7l7avqQ/6j+i7kmb/qN+fIx5LvgebvZN9Nnli9Jfndv+pvU3q8dFR6zn+hsM2ll66GMv43rJfwuNGdN654X/2jv6P8P1Q+xP+P9wD9W/9R5WfjD+lewN/PP69/xv8T7KOiJ6z9gn9getl+8Xsymi0IzWi6ywneISNKWj6LQtYtfDvV3XhIy5j9qYwKd3AfYg25qw+3xdM70SVD0JTMaNAcWvzoFK8UlmJJypos9AEnCee+uRPDZuMicUD1p6iMI4ITiuVaf0zzwDDbYNjVs7Eeyqz8UO03nt0zj7nTq3jQBMJVzqmCT+6OjDFjJvedWjiZJd9yJ4a+fhf01arLNWthd7DcRpzTMqvWOOQAPnq770Ox3iazdwhksySGqUYnJwYiAaZ1Q/6FFNvghuEn14AYmrCMdlKhxzXkXp6GHUklvDzHdkEHL/iOePvjZNXfDL/05gNtCj3Jy/9fGZ+dry1nKnWUG1jF/E9wtWI8nfsLzrT3I/2FlDequCLExfU/Ig6sm9WJ0OdYH7DSY+q7+dz37rbaiUuIkwuCJ/QlIB2HsulHuksnL91u4s779ed86RqVMZMa8u+h8LqVCH5TpDZIzutqJd5G097CCgIp4SbmGWdiFm2bt+mATK3m5OgwJOgdL2DtjzHu72QF0dAV9ZNgfahD82HYQwA6R9pZ4D4kDQ+Cv+MHHWSGei8Kc/tPRBUW7vWfRcJuLXZpwr0k1q5bbceEv/fH1j8/RU0EDWQzaKAayg3imyfxxenOO1yA+HXnqsZUZJX2nib0gygntGqNjByue471FcvwvxgRc9TQ5uqR0f7CEqq+zif9Zfd/tqi/hoQIw6n22ikss2MtXfb3qA8tqRziOyMJOWp+InqF9QY72Jd+eKaWK0ZiJrNz+n6/MOLy+hesOhxZYDm7YU9I+uvi38A4I0+F8HLJakFBrWS0/xLmpxRjSRXq/BS5J4GVbarwWF7IBpR6IgiiGXeFdPwSgZAYro8WQCYPKy4MTOxdWa5Awrbdf+/VCjjc+fsLuPq9S2ZPTcYT+kjyEZugv3lh9iUEiTzsabcReuq8vyLjXEWD1C64A70H6dWnX4TnL7kXxorCNe1ghgecmfi+u+aZ0BvVNIi44E/Ge2o5KQ7vVMHHP/3JZFdBhGCY6lz3jhmVIXE55Q735LQW/n/u9b4iCmLTs0kRMKuUsmd5YLe1ibbQfs38gaPSyHtecN9xVZfgEWjKIbCn0h1W2Hcdr6HZA2uswjf2XOCyrTTo6f/+HfPxJabwn4pZ+rqYV90EODt59uSC9Kmqt6InRC6YqOHUrpgq17YZrLB00bS7S2JciUbhFN/0gnNuaaw9qtxm9Cpfub/p9rympDvk4RD71qY9bS2gfGV9OOO1IFkJLR9RwxYDU4jjm+wTuPusEMGrDN2J7wcXijyYL+MnHVEEvaYVji9EUuOMwJJNYsYK8qR8kHAAkAYxTJyhWXsVEQujzsb7EtqiV7N2IHneIFmTxTGeWw5sIIGORvbLv+VFbebuBGztru6qvfNSyYr2EIqCplwLYUjC+YEun/5dSnLHd/akaRW2KF2BRxUlU50F3xw0tLEdYqZFRe8llAWbVK7fhb7xa+D51ERdHMMkCwfg5kDMWZ2xQYtqwFMhwBvxlEKaQtXKaKF8DJ//SEmxMcv6l9aFH2H1/Gkm1IHpWxVyTpNREceLATq1jzuxEZWscsa3ohlZaEmHnbUAwaFoh2uIrT9wbJuH3B7DHEzjeL06T0cgJdKu18TzMMz7eCAIcD+Paa4D+94mVfFaA/ijbxjBQSIjw0QpzmlYLAsjz+1eSu77YJ7tMJPCQkiwEahAdP25ef3/Odzq7QitrsjCskU3Z9kMz/qqxFVDlKCIPrQAAD+17J04Cop8V6HteL3221/zjf5nLdz1/ji+ooB4Rq+ue9g9TsBisTLadP3seC4QvuHNXdEKb8i37U+Xj4/TtU6oDGPhkK0KEK0J5qa9RKTulDOSbuIxdDkJ33kUEzhQUzs34OGmh9qpM+s3bilkOHmc/JlZ2duUdgaBb426+EhK8SPKFH4qJ8EGWYeEvK+K7EN46y8fOZzmsPCoMvkuoQckbW2yQkDrL+/hcfAt34UNjwzZ7UsK4C20daMRMI1ioZvYqlpNaL6lF8onkpIiowrprtyPCQq49v55hFohsmzbOh4FJlrtsVD1apWWUEh4TPE+tR/NBLcSxOQuEDcsRGld+9kPj/x8VxRd1is1hxYf0AtW0Y/yXW5/Q/dcpD05tz2v7k2W6vBxEp7aLaj8THjjeMPn1G1sowJJOE0Jj4zritjQYPK4Zb45tU7rkvrZnfDqmCFR3siIsnS584K4gNZwCknZ270zX/ghCFZf0UgRIlqUIaLmucXJTt2nRsnxNy0VGP8A0CAFsV0lkpdGjvEtjYE/4u0Dc10Tn0L72aiCty7lRZ0Z9sEwymv2aiort2o9bO13+Gro56V2WMSPnvTfU8IostJGqiXf34ZWMszEd+9Nmw9jV3vRnKmJGfSWfSY3u98XyJ9MJooxPV14C1yS7Mjk92xHvDHZtUSbFFvT7nq2wnq6yz5wgp5ZYBzanhwxA4lt17seIzXfIQoXLnwudNyHxWfgHTIyKkJUMgzR31o/74M5cqJuMzDb9SCQbxFy9k+PzVAgP2oeiqUX4LdugTIA0WiFJUvfHpI9a0HQSErGBUqwPz/EkwQFmJ57zk28MV8FhfQuYC8nmfNeUapg1ojRHqH0qTJtnimhBziGqgfcXSoUeJqtJnUL3kkcmCa6LeuU91Hpb6GEVyBssamOOE5xwzmsGB4pn4K+EU7A45ruMIsF5sIjuq/usaLNp200KL043jKqhIK68HzhU3oNNnXgW/EaXQwtcCmXEuFWL/yr+kZEW4UNpT/qLvUIJPBve5igzpPZ1e4w/sQbbhr4BQGHl8l9oD1nAdbFssPVul15sPxBU12ZRxs5dYARLWBDsY1vGVwG2m6O6yoNrin6zIreudzHhaRbMrwDty+tMsuKV3tBuWc9HLhtkc/bIf9nq8dpHk1yQKTqUcCUsY9dt4gkc11O5gYlCSKUKkJ1A+ulH230oF7+DYp6U44XL2Suye7XXmPm9V/SwaWbsw/P1zdL0RWb1z9rkP/ExWmN0rEN+P/iQdoFnPfWSfx2L+BKUKkykTDHT3Du/lmTYta95mBLwgvYIWNZ+XtLEoRLvZ4dchHijwmxZULrTKN2pIJbjtTI63g3s4t4sdZ0sTTotBb+FP+RYahZmVbc2TBgD0IhnnDZ0VJ87WoA5vVfrF8vUATPL6nzB++FLGU62AZ3H/+fWNR+/e087Lb1rGJAbI5p2af+bogVvMsN7B4OuMWpwyyyahQ8aT2CnVxf985sT9aNDFVWrLj7NVQOEMZGffMeyGrp+2O17CpLV35AaD4F7ahXEqcIwZXAecCKDBoDdywdOYANGN/tTtM4Tz+zfM/N24SjEUXnGFd4zp8cvOF8vTSZQSG3bevWM3RyGA2dASaZoew8bXDEIQW5TiC3nFPA7/Qlx1M1dlmfI4Qw1vllevWeRcPOSnBhFhaj/zNn8VE4/cuzwVRs1Zd8iIf5bXrepiobj052mdG7AY0MRAtF7OJDVDrlgWWhjGtWkV8vEnP6j1LeJhZHhmoIHLqr9SpUt+/4qfa+8dJ2TsDH9VNHCK7kWJTGUB0tBNB8I+OpR7nYExcaXNSH2GJ2cAlYGbO8yPrzfVpR3F5iw/dmcYkFWUvuvpKkNuuRlZSIT5Jwt3uyAl1svv7vEDEJfiESAwRNOPND9L1ye2Dmo+t82htxxSxuTY8DeOU6j4xxN0dtEMYLV/+VM76EQPJOXia27QhXRzH/6zoDx5DcFfY5HPC8FFMeHWGza5jqzuNh7W3XK2DYOwg89EztBll+7MYPxZxa7jffu0FCJ8ellnQlVdzDaVare9NuBVw2Vno9DFdy6TX/hzNhaJDDQFD6Vf7Lces3X+o95O/4S/U1Iem67WH3XnMz097sUyByA6hljvfUE747m71mPncw0x9yV8CTFHvXLPZcCKE7P6T4G4OnyZ8ipXmFGMg5x7t7v8SaoXXPf0h5K0NDbLzWagfa88GJO4kQsHzribAnOgOhf1zGcqfCqdhW6mMLIzlzhHIpPI4Wm1KtF7yuDVBB3FgzoF6DuBMIPlcrii5kRHYb6/IaplcfqGbDErumFBijK/sH1Ibj4ranekiTTSeh1fkqIHfN35vXaILc18lvdkZr6HmHdPsaCe/qva4VsNx3YlFtIjUUBZfh5jhWqz2W07SA7TwZYOZ3K+qte7t+7HUntDI9Wx7UQmv7AWPf2aNZzj8PsPwNFiaI/oLb/KFPwFjVHPMOfwu6a4PwuOJeGgBHTwokVvIYOTiP75MNOmPEsvA9v+QuFF65dYiUoQM0OSFThwKVhtkEkDMV+K9iZ9Dc749kXG/CO/Pe2q45IHZtO2ldA20r0NYnlfUKVfwsOcYCBp4sk/ISA77fiRQ5GTPAjT+K7VlUjFjLQ5xLJxGhCRnbkGCJkIVsCboLKvkaCY+YNo0IN5Ivw56O2l2+OGkW1IsVrq6XFKv3DiYj55md9rKR2z771NdNGIn7gYqEGV1dxeE76+ZoMGuBeARx0r0Vl3FObMt1TBCJQOes8r4psdCQA4Y7t9Lq86D/xS1w01geWVv+5OVCr12VscaHYkjsZ34jQX8+SF7rasDVOpmTJONR5atjQAy+Q3ZX4EdbONQTyylusI7hyPuCsybFCwS0iDxw8HK6KEivrs5wgX9I4+m2qU+Fi7DJMehTYu82tE4FpnNBRBxA95ccyeEytca+halanJPjd63oPp1XHsLfG45ECkaSaYmQvwYAvyofoOTHIuWzqUXiG2PkUALYX7gl9yVrh+a/KlnDIbFT7ttI0t6cUgHjPC4xpPgAXDnXq8TdN2k5xFDCO3mz8siTWfVQGWPjsqbaDerJ42HlJtCKEwuOyXSuV4W4WWYFKwthgACTo9aS63QaS66LnK4C2AvTy1EMDpSVXcWjKrWoY1VZr1TZIhCumjTgVtvgpT3vGcO0ORVooOiXb1BY/dQAnd3bdsdB2d/QEoboL0yaQJicmbEGNKGvcsq9CIDZwRCynheKSD49noGiL/2xqJ0nxuTltNVRSkRK0rNfoe4DwmSMc2yNKW8XuyVQyZtdFrcCuBSqEs8UcB80rzu6TqBgQXt9CSJC8c5Rm/vB4/Swocyynmq7WJ8mJFQm5rS2jjIvIsl8WA5epVPfHrjbf/tdNDFzsbb91sp7kBZNBm5KauPuDfwqZYlC69+oSE/27IoCVpB111U2UtaPNgs20jxAheTTG67U6KKsabRiy/7c1k9dJ2aa4zqTGCWXgx+bHPZ2NCjHNQQZa9hLZ1GFvg3Ju51rjz7IizzSW3dBWl3F20EyqJDhI3Y8+7w4lME5OgOtD+6JwNk2Z4cPkBhnH7owPUtgBMkr2EvQQXsWdZ6NKYa7IAn0B1/hgL8w8/rAP+OqMo8LGv8RzWsyIjEv/eb3pUII0fskNosWOHjgbGYLpfnyi7hPn6nU4xkN2X2dFM+c6fak2rht+8nOWp5bPI7BYq1d3iXnk1+eqFybhULnP1sTdjB4QoxjMoJPl0GbEYOcEvrn8fGz8Z7Qk8+SQKSTMfvuglCDOPPY76SaPdoKVIIuTorQPJoyp134frPz3LqL0lJF4PH4Ui5M+K32uoS3C1ApByc6+RkKMqjJJWzIMdFvNIpp8IvnsuI0eIUPOxOD1N2qFSNJdvnUl/ydTNRlvWDQP0nN46ppmJNtMbMKb1OvCnwXkPqMyv88T8veaFV9fPmozNaIJjRxjGNKr3yHeBLHsawhwC25ATyaLC6X5k8FftXg2dtrx+2jmAgRA34dvnUyjPrL9a5b8206PJo3+sIpcBXO4/Clx+F+JoU+Qoh9ZeUM9hR2geoM5UDJTWI7G/cgIJoIcDo293hXhM+7cUn0CTl6qsHQXGH3caNqIJLk7f3mDHZzVhBACRHgjErr0E+hBlr317w/W0Eja4oKaDPHSGbTNSJVqf82OGzV9jY/aDzPs3Cc0ufy6ZexsffSd/1AxLxXVFg6lBq8r7F0Xd/+tak7xZd+rysk3yWjOLAGMnx7zK6UZY2i7Niav4/gWmQcqcyAvEVg0sboIMvcbYuLMIvaH9CTMM2AGum0QVyV+2VKqg1m48zm22f+RlyCiyJfgmqLYLn+chHub1WxCN0hsZ7Hiv4IrtxJjqfSBwDLQvnqFQwor6nF/1nwRr6vC9omoALjXiHIgIV6yADOb3hkS7wu4Hw+MP9zfHPC+P4MPCQedMIK1XsO9wV2r/HuzX+1jOKiHJe3IKV4zZPhq89YyZPMY2Yu9JTIB+YfYmXm6d5C7kFBKssb/HEIpzZilHMaQ7ERL0SirLXdCwCwnmtGRW0TURPAKOqyg9ouqyFzTs13RMInQWPVAT+BaxTMlMMolFPFFcPf+1O1bsV8ndJZx8ZnejLMYXyfy7pOhiqMTg8zyKp1lLZhJvDpu/11v11Xz/nU2fLTg9Fi0pWxMdpdGrFGx5GArS7FeehbPemoRrcwNrxpQbs6OuX1ZdkyniQmJ903fTPXzCFVpnjLHnuEz0YypmJkPqmW967tB+oOkLvfx4bgHC3SHttHKHkFH3poQkIM1HSMYn+kQqYWPalPDBFar4BwAefrPZgRBl/UgrlFDYtsmleKmQEANbTopbJ8pqxqp4rZIynXY48vjbZSpC4IOQps72IkXE6nnYUzIi1rIwbLbT/T//i14yosPIRZQvr6vH7Ptt9vfK6FIwsXOgdEXAp52eMJG2jwEqoALfBvPhQbtryA5j4heONz01UEhprVrQ3ZtgdGcGh+RjzqFebWfBLyntrgjxgvmiCgaqvrSc1Ekq0XLzAbJzy0kGNNesWwVtQMIta7dAllOvjpNO/WUmTmT2b8Uf8glL3Ml1jEDbgjnXeDpY0svGHg/1PbAL5Yk4DQidrv/XiKHdmpjxzWVcvcOWqe4XnEBZvowRU8sKzyl7ctDmFxKrnKQ9pVvN/8566btXDiLsJKh8EG879aEu7tWF+dQYDWVrCwJaphO30ybyyIfb3JnsaGhHLdlE/LaxQ/ljTcA3iVC7g6oRVUmiZDKWVd2ztX3qxcdw2zwjZVlgNT2mkMQHPk3PMwxPQTg9DuMMxiKHiDINbYPTOaWOZ7T2M+E63hqnvAkGEaAstq4YzWlMu8tvm5g37hdHreMzmpsI9/eiyMzjljOABFMiu2qoxuOUzkMfclneqM5x1c0ccJaqj9e4iIR3EWGlkOX3tnErOlzX1WfexdPtTzWHpEewxVCtndrYteWTlCIme1GF1+X7D/DLlotQngMiwqmju+BykGCwMLC0uoZK2xsx2TC8wORCMVobjvlMBJEQS2yPsf2RuD9/ZINchFOPNFg8a0fIwO3u1OuYULRlxvy/Et+cTksXn8LeH9TVEKQ9A0B8ZcXfdxkAUcrNA3K2v6Yh2G1PNnkI082nbI/T5Qr/ntj+/yKrGJBB6ngI3IjJ2owhQesJ6tTOj9qCsLk8D2SIM73u/0FL8eHoDMozQ9oUTO/3rTTSAO5ulYgyFIqDR2LxinbprhjdOpxf1X66IoYVGYIguDjuZku06RjcHOYYPT/1EAK2a9DpiD7XGE4x0OsSs+/hUtbwxX/yv0fol5Oa3AMOcMbJMrtNqze9s0VwMDEVJJ/yTOeMy9u7VIdjlu8MCWmYoyyO44PP5UOrfgdZggJo0aH957XWAnMKBWneOGCMhPewXzALQriD0shRKb7Nk0LZhdr9So6e9mC0xHTXglKZHqllszK5ozvmzbboL/nSac5EpDHAOjq6Hzx+vlxX+DjsRxz1Znc+OwLEKd8E+1BVB/h3gcw/yAssdmqj32UCOxLgrWTd6pN08fLTo/Dofs7yCNtaCLTdwvjstia0BZqq+zs6gfsJLJIBAugncG36kk1BI0pTWb9J53LtBhWw4hzd9g0Sa32TdnQL8GwAF9DgXWBRmIBoLqIbjyRpeTjcy+TuUS5i10+t5FBKLuSJHlajMvKFhWirPHsaJylqpPj5OCNrP1hjo2CtaUwP9+iC8dNLdzgYHvXpkSFvckJFOEwEjcU3LTmWg4jaRemuDFigrpRtwLGgWkfOsJU8JviX+1C1FyfRMguV6Ba9F/8LHT0O+sO9rKAP5M0O5e6NAxmR92mAFXesdDI2g6PxTRly6FSDxB4eJX0p3S6HMSue/2BfZpAROgJzB6ZfEdbhsVJx70Q6CrML1oendGxWeG/NpMr/GQzysU+ZWhvXwmUZmDkmnAGFgaYpVVbT6ookIdwJmB7LqMLjuYDRhr5fGvn32AHsVzW2OUBP7gUl4AgPBlzMEj38qBbfTtbiAizAnECMY2CQV0CbpfixVRumY68eVzHpJx3rdiwJZLCic17N4ygMHTKx2UrPm4bk/dZ6RxeUVMxa55r/Py3lyexDPwA7U/LNiPZdsZZ8nBX9cqrLaiPQPfolEWUhCKL2CjuQ8LRRDlhxlzTQ4dCbWP3qBuxqtSAxmviIbOTTyYHh+KA9rfmZ1RL7OoiTB9ngD/8b6TmaQp6RZUgxAYeUcPvSQtG1hTou129qdrqFTPtozpTA7oNGYNxQ9MBw/Ko2QmsiBP+iyLEn9E74r5gjGK2jXaj3Mg382oP1GozootaNscdzbDn7PgZtcJgR3ctZIM1A/asJQseRBlBVgs7DO38EY2phCSYzhZ1q/3hRTilIybFCeQbgweGJ0HtMokQOgSHGnBBlbIN+Py9VC/r7IsruBwv9j14X2Gfs9h7kFEprpnYslQkMitetalnnY1R0pd2Xr2Duz3D/z5SFyoFvIyL2vgvO5yGcprmIrF+G+G14oGSx4yK+4No6UEfVPraqeDoNRaImXsLa6tsMFov8L2YwzCvJiJ6I8tErkbLljSh46QS9WEOkn4VysyywMfAb50jgJq8iZ4wzeDfOQbxKKB0SX397Fz81WhuP2QQIiPCKCVp8LuHSmRlRhshTOEcZAeLH8TqWCYxbwPGyelGy3enjoD1LaKjoXmbV8wZMnhcTCfpmjCYjpBAunffDza5g+phuB00LB9rCC9h/SlZ0dh7QLyl/jokn2/HMhL7ETiV+kTU9yE+Xf3Pv6eT8/IuSsDD5t0uJFp9/9R0VjjG9d87DfJE46AujkFm2+QAULQbsvsCsdvdpC3H6g/G0os523lV1nVUvYqsarxse7X3kTdvD+IOWk9xioYbTHE6zYsh/cQOtBZ4pXaAkMF72b63HyarvYSpPxN70IB1Q4gRmwRx3U14Nrr0PJ7+UY5UPIliZtHJsgwbfl2/KgjvUSZusmtWlh1o0PUaPSAowKFAC84gM7JmyuGRKxYkIw33odhiRsZJl4wln0q0fdHYniAkYrZhb0sqGwL/3D7s+6YCw6OensLB0y+x3d2Y/8heRmC8QpIN5IE5/SeGko+6DDCLZaV6AT2g9RznBrWcbS9ciJGuev8tnttu0gc/xB6O5Du9+7zgKtNSXnOMYyknl6wqkH42nTq4+GDBN8BTQhxDlPmPZY+GXX7kZdy7kX59qRlh33LqcZdiEr/se2v8AwanzKFI9CnMXnj0cVWmNT8qzxDmXRwS6JC89oEjxNat/BgOyhz0LM6Y3wCu9qAxFx1af4Enj9EZMLa5BSF1fKwn+BBJmcjCpBltAvc7Fquwmd+nZ9UrO2g0ZN/fZFSHNJPYP9nPZdEgJpP3yuQ43KrMj5t8uSrQtZRDqZapHYJzHyph99z/UzXE1AY59mQVDXl+pAmDro2CfJB8vtREt/5Nz7gaak06GNzitQnFZZs3knih8eqMZIh05iU97A4jHkijJtyb9eT3F/WcEbhPaoCcaFzzmIT/marwL21WpC7dc+VP/Qsi/Je/em8WF2EgVwwMTI1bEw+0Kjmz0ilnUH51QGtOj9WPUIKVc+qjkRW/d4BOBZjYTcvSS4mkQWn6S4JlNjSgG8wvJYEM9vV1jfIfLxwtWgGExfWBM2rTaxZnP/8vgQiGuV/z/DGYJK85DE0ZUkjPu1yQSEDlXF2s3c/GJtGWZ9TSHdnaAG/9ESrZVzpsdeCsd44URDq4aVWig8DWfkaxjHDpDyw9N4uIYbQlJbxrGzQTBUPhKzHMJL+cBYWLAPb4h9+PYYK8J26rdyohSMb7uz5Vnfxh8JvO4FZQR536Rmd/YxTlr3yFUcBg4kOVOkJMEc+mSK9zLrZXLDAX171PIX6b9Zp8c+Xr13ArxiUx6FfyVrzOD2zuNNdD87T7QyvQnyqsyEpaZJBpzCkUh2NF6324XWvFeKfiHi8MBpDEHYr6Y4Lv5mVS+c/63p9mqGBd2yE8JspOQzc4zanLdXl1TjuHXI5kxvRFhby3QdASpsgvbwDHaaGRVETyKFtWpNPVNuSK/WwkZ3AH6xGZoyDOKARQ3iuMxXcVImU/P3zZt6SAWcNorLFmXJxVCzh2GcxLTbBClK3HVsqzIpFeJXbS7Af8s6xFBGc4wSrKRbl1CSRb1MAjMA5/AtBYwAoZjG+Miqg0v8EvfMx7IwXgAAAA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5844" name="AutoShape 4" descr="data:image/webp;base64,UklGRhwfAABXRUJQVlA4IBAfAADQsgCdASoEAVQBPrFMnEmmI6ITCc50ZAsE8bb63DH7l7avqQ/6j+i7kmb/qN+fIx5LvgebvZN9Nnli9Jfndv+pvU3q8dFR6zn+hsM2ll66GMv43rJfwuNGdN654X/2jv6P8P1Q+xP+P9wD9W/9R5WfjD+lewN/PP69/xv8T7KOiJ6z9gn9getl+8Xsymi0IzWi6ywneISNKWj6LQtYtfDvV3XhIy5j9qYwKd3AfYg25qw+3xdM70SVD0JTMaNAcWvzoFK8UlmJJypos9AEnCee+uRPDZuMicUD1p6iMI4ITiuVaf0zzwDDbYNjVs7Eeyqz8UO03nt0zj7nTq3jQBMJVzqmCT+6OjDFjJvedWjiZJd9yJ4a+fhf01arLNWthd7DcRpzTMqvWOOQAPnq770Ox3iazdwhksySGqUYnJwYiAaZ1Q/6FFNvghuEn14AYmrCMdlKhxzXkXp6GHUklvDzHdkEHL/iOePvjZNXfDL/05gNtCj3Jy/9fGZ+dry1nKnWUG1jF/E9wtWI8nfsLzrT3I/2FlDequCLExfU/Ig6sm9WJ0OdYH7DSY+q7+dz37rbaiUuIkwuCJ/QlIB2HsulHuksnL91u4s779ed86RqVMZMa8u+h8LqVCH5TpDZIzutqJd5G097CCgIp4SbmGWdiFm2bt+mATK3m5OgwJOgdL2DtjzHu72QF0dAV9ZNgfahD82HYQwA6R9pZ4D4kDQ+Cv+MHHWSGei8Kc/tPRBUW7vWfRcJuLXZpwr0k1q5bbceEv/fH1j8/RU0EDWQzaKAayg3imyfxxenOO1yA+HXnqsZUZJX2nib0gygntGqNjByue471FcvwvxgRc9TQ5uqR0f7CEqq+zif9Zfd/tqi/hoQIw6n22ikss2MtXfb3qA8tqRziOyMJOWp+InqF9QY72Jd+eKaWK0ZiJrNz+n6/MOLy+hesOhxZYDm7YU9I+uvi38A4I0+F8HLJakFBrWS0/xLmpxRjSRXq/BS5J4GVbarwWF7IBpR6IgiiGXeFdPwSgZAYro8WQCYPKy4MTOxdWa5Awrbdf+/VCjjc+fsLuPq9S2ZPTcYT+kjyEZugv3lh9iUEiTzsabcReuq8vyLjXEWD1C64A70H6dWnX4TnL7kXxorCNe1ghgecmfi+u+aZ0BvVNIi44E/Ge2o5KQ7vVMHHP/3JZFdBhGCY6lz3jhmVIXE55Q735LQW/n/u9b4iCmLTs0kRMKuUsmd5YLe1ibbQfs38gaPSyHtecN9xVZfgEWjKIbCn0h1W2Hcdr6HZA2uswjf2XOCyrTTo6f/+HfPxJabwn4pZ+rqYV90EODt59uSC9Kmqt6InRC6YqOHUrpgq17YZrLB00bS7S2JciUbhFN/0gnNuaaw9qtxm9Cpfub/p9rympDvk4RD71qY9bS2gfGV9OOO1IFkJLR9RwxYDU4jjm+wTuPusEMGrDN2J7wcXijyYL+MnHVEEvaYVji9EUuOMwJJNYsYK8qR8kHAAkAYxTJyhWXsVEQujzsb7EtqiV7N2IHneIFmTxTGeWw5sIIGORvbLv+VFbebuBGztru6qvfNSyYr2EIqCplwLYUjC+YEun/5dSnLHd/akaRW2KF2BRxUlU50F3xw0tLEdYqZFRe8llAWbVK7fhb7xa+D51ERdHMMkCwfg5kDMWZ2xQYtqwFMhwBvxlEKaQtXKaKF8DJ//SEmxMcv6l9aFH2H1/Gkm1IHpWxVyTpNREceLATq1jzuxEZWscsa3ohlZaEmHnbUAwaFoh2uIrT9wbJuH3B7DHEzjeL06T0cgJdKu18TzMMz7eCAIcD+Paa4D+94mVfFaA/ijbxjBQSIjw0QpzmlYLAsjz+1eSu77YJ7tMJPCQkiwEahAdP25ef3/Odzq7QitrsjCskU3Z9kMz/qqxFVDlKCIPrQAAD+17J04Cop8V6HteL3221/zjf5nLdz1/ji+ooB4Rq+ue9g9TsBisTLadP3seC4QvuHNXdEKb8i37U+Xj4/TtU6oDGPhkK0KEK0J5qa9RKTulDOSbuIxdDkJ33kUEzhQUzs34OGmh9qpM+s3bilkOHmc/JlZ2duUdgaBb426+EhK8SPKFH4qJ8EGWYeEvK+K7EN46y8fOZzmsPCoMvkuoQckbW2yQkDrL+/hcfAt34UNjwzZ7UsK4C20daMRMI1ioZvYqlpNaL6lF8onkpIiowrprtyPCQq49v55hFohsmzbOh4FJlrtsVD1apWWUEh4TPE+tR/NBLcSxOQuEDcsRGld+9kPj/x8VxRd1is1hxYf0AtW0Y/yXW5/Q/dcpD05tz2v7k2W6vBxEp7aLaj8THjjeMPn1G1sowJJOE0Jj4zritjQYPK4Zb45tU7rkvrZnfDqmCFR3siIsnS584K4gNZwCknZ270zX/ghCFZf0UgRIlqUIaLmucXJTt2nRsnxNy0VGP8A0CAFsV0lkpdGjvEtjYE/4u0Dc10Tn0L72aiCty7lRZ0Z9sEwymv2aiort2o9bO13+Gro56V2WMSPnvTfU8IostJGqiXf34ZWMszEd+9Nmw9jV3vRnKmJGfSWfSY3u98XyJ9MJooxPV14C1yS7Mjk92xHvDHZtUSbFFvT7nq2wnq6yz5wgp5ZYBzanhwxA4lt17seIzXfIQoXLnwudNyHxWfgHTIyKkJUMgzR31o/74M5cqJuMzDb9SCQbxFy9k+PzVAgP2oeiqUX4LdugTIA0WiFJUvfHpI9a0HQSErGBUqwPz/EkwQFmJ57zk28MV8FhfQuYC8nmfNeUapg1ojRHqH0qTJtnimhBziGqgfcXSoUeJqtJnUL3kkcmCa6LeuU91Hpb6GEVyBssamOOE5xwzmsGB4pn4K+EU7A45ruMIsF5sIjuq/usaLNp200KL043jKqhIK68HzhU3oNNnXgW/EaXQwtcCmXEuFWL/yr+kZEW4UNpT/qLvUIJPBve5igzpPZ1e4w/sQbbhr4BQGHl8l9oD1nAdbFssPVul15sPxBU12ZRxs5dYARLWBDsY1vGVwG2m6O6yoNrin6zIreudzHhaRbMrwDty+tMsuKV3tBuWc9HLhtkc/bIf9nq8dpHk1yQKTqUcCUsY9dt4gkc11O5gYlCSKUKkJ1A+ulH230oF7+DYp6U44XL2Suye7XXmPm9V/SwaWbsw/P1zdL0RWb1z9rkP/ExWmN0rEN+P/iQdoFnPfWSfx2L+BKUKkykTDHT3Du/lmTYta95mBLwgvYIWNZ+XtLEoRLvZ4dchHijwmxZULrTKN2pIJbjtTI63g3s4t4sdZ0sTTotBb+FP+RYahZmVbc2TBgD0IhnnDZ0VJ87WoA5vVfrF8vUATPL6nzB++FLGU62AZ3H/+fWNR+/e087Lb1rGJAbI5p2af+bogVvMsN7B4OuMWpwyyyahQ8aT2CnVxf985sT9aNDFVWrLj7NVQOEMZGffMeyGrp+2O17CpLV35AaD4F7ahXEqcIwZXAecCKDBoDdywdOYANGN/tTtM4Tz+zfM/N24SjEUXnGFd4zp8cvOF8vTSZQSG3bevWM3RyGA2dASaZoew8bXDEIQW5TiC3nFPA7/Qlx1M1dlmfI4Qw1vllevWeRcPOSnBhFhaj/zNn8VE4/cuzwVRs1Zd8iIf5bXrepiobj052mdG7AY0MRAtF7OJDVDrlgWWhjGtWkV8vEnP6j1LeJhZHhmoIHLqr9SpUt+/4qfa+8dJ2TsDH9VNHCK7kWJTGUB0tBNB8I+OpR7nYExcaXNSH2GJ2cAlYGbO8yPrzfVpR3F5iw/dmcYkFWUvuvpKkNuuRlZSIT5Jwt3uyAl1svv7vEDEJfiESAwRNOPND9L1ye2Dmo+t82htxxSxuTY8DeOU6j4xxN0dtEMYLV/+VM76EQPJOXia27QhXRzH/6zoDx5DcFfY5HPC8FFMeHWGza5jqzuNh7W3XK2DYOwg89EztBll+7MYPxZxa7jffu0FCJ8ellnQlVdzDaVare9NuBVw2Vno9DFdy6TX/hzNhaJDDQFD6Vf7Lces3X+o95O/4S/U1Iem67WH3XnMz097sUyByA6hljvfUE747m71mPncw0x9yV8CTFHvXLPZcCKE7P6T4G4OnyZ8ipXmFGMg5x7t7v8SaoXXPf0h5K0NDbLzWagfa88GJO4kQsHzribAnOgOhf1zGcqfCqdhW6mMLIzlzhHIpPI4Wm1KtF7yuDVBB3FgzoF6DuBMIPlcrii5kRHYb6/IaplcfqGbDErumFBijK/sH1Ibj4ranekiTTSeh1fkqIHfN35vXaILc18lvdkZr6HmHdPsaCe/qva4VsNx3YlFtIjUUBZfh5jhWqz2W07SA7TwZYOZ3K+qte7t+7HUntDI9Wx7UQmv7AWPf2aNZzj8PsPwNFiaI/oLb/KFPwFjVHPMOfwu6a4PwuOJeGgBHTwokVvIYOTiP75MNOmPEsvA9v+QuFF65dYiUoQM0OSFThwKVhtkEkDMV+K9iZ9Dc749kXG/CO/Pe2q45IHZtO2ldA20r0NYnlfUKVfwsOcYCBp4sk/ISA77fiRQ5GTPAjT+K7VlUjFjLQ5xLJxGhCRnbkGCJkIVsCboLKvkaCY+YNo0IN5Ivw56O2l2+OGkW1IsVrq6XFKv3DiYj55md9rKR2z771NdNGIn7gYqEGV1dxeE76+ZoMGuBeARx0r0Vl3FObMt1TBCJQOes8r4psdCQA4Y7t9Lq86D/xS1w01geWVv+5OVCr12VscaHYkjsZ34jQX8+SF7rasDVOpmTJONR5atjQAy+Q3ZX4EdbONQTyylusI7hyPuCsybFCwS0iDxw8HK6KEivrs5wgX9I4+m2qU+Fi7DJMehTYu82tE4FpnNBRBxA95ccyeEytca+halanJPjd63oPp1XHsLfG45ECkaSaYmQvwYAvyofoOTHIuWzqUXiG2PkUALYX7gl9yVrh+a/KlnDIbFT7ttI0t6cUgHjPC4xpPgAXDnXq8TdN2k5xFDCO3mz8siTWfVQGWPjsqbaDerJ42HlJtCKEwuOyXSuV4W4WWYFKwthgACTo9aS63QaS66LnK4C2AvTy1EMDpSVXcWjKrWoY1VZr1TZIhCumjTgVtvgpT3vGcO0ORVooOiXb1BY/dQAnd3bdsdB2d/QEoboL0yaQJicmbEGNKGvcsq9CIDZwRCynheKSD49noGiL/2xqJ0nxuTltNVRSkRK0rNfoe4DwmSMc2yNKW8XuyVQyZtdFrcCuBSqEs8UcB80rzu6TqBgQXt9CSJC8c5Rm/vB4/Swocyynmq7WJ8mJFQm5rS2jjIvIsl8WA5epVPfHrjbf/tdNDFzsbb91sp7kBZNBm5KauPuDfwqZYlC69+oSE/27IoCVpB111U2UtaPNgs20jxAheTTG67U6KKsabRiy/7c1k9dJ2aa4zqTGCWXgx+bHPZ2NCjHNQQZa9hLZ1GFvg3Ju51rjz7IizzSW3dBWl3F20EyqJDhI3Y8+7w4lME5OgOtD+6JwNk2Z4cPkBhnH7owPUtgBMkr2EvQQXsWdZ6NKYa7IAn0B1/hgL8w8/rAP+OqMo8LGv8RzWsyIjEv/eb3pUII0fskNosWOHjgbGYLpfnyi7hPn6nU4xkN2X2dFM+c6fak2rht+8nOWp5bPI7BYq1d3iXnk1+eqFybhULnP1sTdjB4QoxjMoJPl0GbEYOcEvrn8fGz8Z7Qk8+SQKSTMfvuglCDOPPY76SaPdoKVIIuTorQPJoyp134frPz3LqL0lJF4PH4Ui5M+K32uoS3C1ApByc6+RkKMqjJJWzIMdFvNIpp8IvnsuI0eIUPOxOD1N2qFSNJdvnUl/ydTNRlvWDQP0nN46ppmJNtMbMKb1OvCnwXkPqMyv88T8veaFV9fPmozNaIJjRxjGNKr3yHeBLHsawhwC25ATyaLC6X5k8FftXg2dtrx+2jmAgRA34dvnUyjPrL9a5b8206PJo3+sIpcBXO4/Clx+F+JoU+Qoh9ZeUM9hR2geoM5UDJTWI7G/cgIJoIcDo293hXhM+7cUn0CTl6qsHQXGH3caNqIJLk7f3mDHZzVhBACRHgjErr0E+hBlr317w/W0Eja4oKaDPHSGbTNSJVqf82OGzV9jY/aDzPs3Cc0ufy6ZexsffSd/1AxLxXVFg6lBq8r7F0Xd/+tak7xZd+rysk3yWjOLAGMnx7zK6UZY2i7Niav4/gWmQcqcyAvEVg0sboIMvcbYuLMIvaH9CTMM2AGum0QVyV+2VKqg1m48zm22f+RlyCiyJfgmqLYLn+chHub1WxCN0hsZ7Hiv4IrtxJjqfSBwDLQvnqFQwor6nF/1nwRr6vC9omoALjXiHIgIV6yADOb3hkS7wu4Hw+MP9zfHPC+P4MPCQedMIK1XsO9wV2r/HuzX+1jOKiHJe3IKV4zZPhq89YyZPMY2Yu9JTIB+YfYmXm6d5C7kFBKssb/HEIpzZilHMaQ7ERL0SirLXdCwCwnmtGRW0TURPAKOqyg9ouqyFzTs13RMInQWPVAT+BaxTMlMMolFPFFcPf+1O1bsV8ndJZx8ZnejLMYXyfy7pOhiqMTg8zyKp1lLZhJvDpu/11v11Xz/nU2fLTg9Fi0pWxMdpdGrFGx5GArS7FeehbPemoRrcwNrxpQbs6OuX1ZdkyniQmJ903fTPXzCFVpnjLHnuEz0YypmJkPqmW967tB+oOkLvfx4bgHC3SHttHKHkFH3poQkIM1HSMYn+kQqYWPalPDBFar4BwAefrPZgRBl/UgrlFDYtsmleKmQEANbTopbJ8pqxqp4rZIynXY48vjbZSpC4IOQps72IkXE6nnYUzIi1rIwbLbT/T//i14yosPIRZQvr6vH7Ptt9vfK6FIwsXOgdEXAp52eMJG2jwEqoALfBvPhQbtryA5j4heONz01UEhprVrQ3ZtgdGcGh+RjzqFebWfBLyntrgjxgvmiCgaqvrSc1Ekq0XLzAbJzy0kGNNesWwVtQMIta7dAllOvjpNO/WUmTmT2b8Uf8glL3Ml1jEDbgjnXeDpY0svGHg/1PbAL5Yk4DQidrv/XiKHdmpjxzWVcvcOWqe4XnEBZvowRU8sKzyl7ctDmFxKrnKQ9pVvN/8566btXDiLsJKh8EG879aEu7tWF+dQYDWVrCwJaphO30ybyyIfb3JnsaGhHLdlE/LaxQ/ljTcA3iVC7g6oRVUmiZDKWVd2ztX3qxcdw2zwjZVlgNT2mkMQHPk3PMwxPQTg9DuMMxiKHiDINbYPTOaWOZ7T2M+E63hqnvAkGEaAstq4YzWlMu8tvm5g37hdHreMzmpsI9/eiyMzjljOABFMiu2qoxuOUzkMfclneqM5x1c0ccJaqj9e4iIR3EWGlkOX3tnErOlzX1WfexdPtTzWHpEewxVCtndrYteWTlCIme1GF1+X7D/DLlotQngMiwqmju+BykGCwMLC0uoZK2xsx2TC8wORCMVobjvlMBJEQS2yPsf2RuD9/ZINchFOPNFg8a0fIwO3u1OuYULRlxvy/Et+cTksXn8LeH9TVEKQ9A0B8ZcXfdxkAUcrNA3K2v6Yh2G1PNnkI082nbI/T5Qr/ntj+/yKrGJBB6ngI3IjJ2owhQesJ6tTOj9qCsLk8D2SIM73u/0FL8eHoDMozQ9oUTO/3rTTSAO5ulYgyFIqDR2LxinbprhjdOpxf1X66IoYVGYIguDjuZku06RjcHOYYPT/1EAK2a9DpiD7XGE4x0OsSs+/hUtbwxX/yv0fol5Oa3AMOcMbJMrtNqze9s0VwMDEVJJ/yTOeMy9u7VIdjlu8MCWmYoyyO44PP5UOrfgdZggJo0aH957XWAnMKBWneOGCMhPewXzALQriD0shRKb7Nk0LZhdr9So6e9mC0xHTXglKZHqllszK5ozvmzbboL/nSac5EpDHAOjq6Hzx+vlxX+DjsRxz1Znc+OwLEKd8E+1BVB/h3gcw/yAssdmqj32UCOxLgrWTd6pN08fLTo/Dofs7yCNtaCLTdwvjstia0BZqq+zs6gfsJLJIBAugncG36kk1BI0pTWb9J53LtBhWw4hzd9g0Sa32TdnQL8GwAF9DgXWBRmIBoLqIbjyRpeTjcy+TuUS5i10+t5FBKLuSJHlajMvKFhWirPHsaJylqpPj5OCNrP1hjo2CtaUwP9+iC8dNLdzgYHvXpkSFvckJFOEwEjcU3LTmWg4jaRemuDFigrpRtwLGgWkfOsJU8JviX+1C1FyfRMguV6Ba9F/8LHT0O+sO9rKAP5M0O5e6NAxmR92mAFXesdDI2g6PxTRly6FSDxB4eJX0p3S6HMSue/2BfZpAROgJzB6ZfEdbhsVJx70Q6CrML1oendGxWeG/NpMr/GQzysU+ZWhvXwmUZmDkmnAGFgaYpVVbT6ookIdwJmB7LqMLjuYDRhr5fGvn32AHsVzW2OUBP7gUl4AgPBlzMEj38qBbfTtbiAizAnECMY2CQV0CbpfixVRumY68eVzHpJx3rdiwJZLCic17N4ygMHTKx2UrPm4bk/dZ6RxeUVMxa55r/Py3lyexDPwA7U/LNiPZdsZZ8nBX9cqrLaiPQPfolEWUhCKL2CjuQ8LRRDlhxlzTQ4dCbWP3qBuxqtSAxmviIbOTTyYHh+KA9rfmZ1RL7OoiTB9ngD/8b6TmaQp6RZUgxAYeUcPvSQtG1hTou129qdrqFTPtozpTA7oNGYNxQ9MBw/Ko2QmsiBP+iyLEn9E74r5gjGK2jXaj3Mg382oP1GozootaNscdzbDn7PgZtcJgR3ctZIM1A/asJQseRBlBVgs7DO38EY2phCSYzhZ1q/3hRTilIybFCeQbgweGJ0HtMokQOgSHGnBBlbIN+Py9VC/r7IsruBwv9j14X2Gfs9h7kFEprpnYslQkMitetalnnY1R0pd2Xr2Duz3D/z5SFyoFvIyL2vgvO5yGcprmIrF+G+G14oGSx4yK+4No6UEfVPraqeDoNRaImXsLa6tsMFov8L2YwzCvJiJ6I8tErkbLljSh46QS9WEOkn4VysyywMfAb50jgJq8iZ4wzeDfOQbxKKB0SX397Fz81WhuP2QQIiPCKCVp8LuHSmRlRhshTOEcZAeLH8TqWCYxbwPGyelGy3enjoD1LaKjoXmbV8wZMnhcTCfpmjCYjpBAunffDza5g+phuB00LB9rCC9h/SlZ0dh7QLyl/jokn2/HMhL7ETiV+kTU9yE+Xf3Pv6eT8/IuSsDD5t0uJFp9/9R0VjjG9d87DfJE46AujkFm2+QAULQbsvsCsdvdpC3H6g/G0os523lV1nVUvYqsarxse7X3kTdvD+IOWk9xioYbTHE6zYsh/cQOtBZ4pXaAkMF72b63HyarvYSpPxN70IB1Q4gRmwRx3U14Nrr0PJ7+UY5UPIliZtHJsgwbfl2/KgjvUSZusmtWlh1o0PUaPSAowKFAC84gM7JmyuGRKxYkIw33odhiRsZJl4wln0q0fdHYniAkYrZhb0sqGwL/3D7s+6YCw6OensLB0y+x3d2Y/8heRmC8QpIN5IE5/SeGko+6DDCLZaV6AT2g9RznBrWcbS9ciJGuev8tnttu0gc/xB6O5Du9+7zgKtNSXnOMYyknl6wqkH42nTq4+GDBN8BTQhxDlPmPZY+GXX7kZdy7kX59qRlh33LqcZdiEr/se2v8AwanzKFI9CnMXnj0cVWmNT8qzxDmXRwS6JC89oEjxNat/BgOyhz0LM6Y3wCu9qAxFx1af4Enj9EZMLa5BSF1fKwn+BBJmcjCpBltAvc7Fquwmd+nZ9UrO2g0ZN/fZFSHNJPYP9nPZdEgJpP3yuQ43KrMj5t8uSrQtZRDqZapHYJzHyph99z/UzXE1AY59mQVDXl+pAmDro2CfJB8vtREt/5Nz7gaak06GNzitQnFZZs3knih8eqMZIh05iU97A4jHkijJtyb9eT3F/WcEbhPaoCcaFzzmIT/marwL21WpC7dc+VP/Qsi/Je/em8WF2EgVwwMTI1bEw+0Kjmz0ilnUH51QGtOj9WPUIKVc+qjkRW/d4BOBZjYTcvSS4mkQWn6S4JlNjSgG8wvJYEM9vV1jfIfLxwtWgGExfWBM2rTaxZnP/8vgQiGuV/z/DGYJK85DE0ZUkjPu1yQSEDlXF2s3c/GJtGWZ9TSHdnaAG/9ESrZVzpsdeCsd44URDq4aVWig8DWfkaxjHDpDyw9N4uIYbQlJbxrGzQTBUPhKzHMJL+cBYWLAPb4h9+PYYK8J26rdyohSMb7uz5Vnfxh8JvO4FZQR536Rmd/YxTlr3yFUcBg4kOVOkJMEc+mSK9zLrZXLDAX171PIX6b9Zp8c+Xr13ArxiUx6FfyVrzOD2zuNNdD87T7QyvQnyqsyEpaZJBpzCkUh2NF6324XWvFeKfiHi8MBpDEHYr6Y4Lv5mVS+c/63p9mqGBd2yE8JspOQzc4zanLdXl1TjuHXI5kxvRFhby3QdASpsgvbwDHaaGRVETyKFtWpNPVNuSK/WwkZ3AH6xGZoyDOKARQ3iuMxXcVImU/P3zZt6SAWcNorLFmXJxVCzh2GcxLTbBClK3HVsqzIpFeJXbS7Af8s6xFBGc4wSrKRbl1CSRb1MAjMA5/AtBYwAoZjG+Miqg0v8EvfMx7IwXgAAAA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2" name="Right Arrow 1"/>
          <p:cNvSpPr/>
          <p:nvPr/>
        </p:nvSpPr>
        <p:spPr>
          <a:xfrm>
            <a:off x="1583668" y="3972624"/>
            <a:ext cx="5976664" cy="1074393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/>
              <a:t>This book won an </a:t>
            </a:r>
            <a:r>
              <a:rPr lang="en-CA" sz="1600" b="1" dirty="0"/>
              <a:t>Academy Award</a:t>
            </a:r>
            <a:r>
              <a:rPr lang="en-CA" sz="1600" dirty="0"/>
              <a:t>. True Story: </a:t>
            </a:r>
            <a:r>
              <a:rPr lang="en-CA" sz="1600" dirty="0">
                <a:solidFill>
                  <a:srgbClr val="FFFF00"/>
                </a:solidFill>
              </a:rPr>
              <a:t>https://www.youtube.com/watch?v=7d9juPsv1QU </a:t>
            </a:r>
          </a:p>
        </p:txBody>
      </p:sp>
      <p:pic>
        <p:nvPicPr>
          <p:cNvPr id="3" name="Picture 2" descr="GPU Gems: Programming Techniques, Tips and Tricks for Real-Time Graphics:  Fernando (Series Editor), Randima: 9780321228321: Books - Amazon.ca">
            <a:extLst>
              <a:ext uri="{FF2B5EF4-FFF2-40B4-BE49-F238E27FC236}">
                <a16:creationId xmlns:a16="http://schemas.microsoft.com/office/drawing/2014/main" id="{E4EF7D14-C429-CC26-7847-DB1C3DE043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3442" y="2171864"/>
            <a:ext cx="1404655" cy="175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PU Gems 2: Programming Techniques for High-Performance Graphics and  General-Purpose Computation">
            <a:extLst>
              <a:ext uri="{FF2B5EF4-FFF2-40B4-BE49-F238E27FC236}">
                <a16:creationId xmlns:a16="http://schemas.microsoft.com/office/drawing/2014/main" id="{A1361B1F-E40A-C3D8-2006-B2A0C259F7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75" y="2133526"/>
            <a:ext cx="1224136" cy="1840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PU Gems 3: Nguyen, Hubert: 9780321515261: Books - Amazon.ca">
            <a:extLst>
              <a:ext uri="{FF2B5EF4-FFF2-40B4-BE49-F238E27FC236}">
                <a16:creationId xmlns:a16="http://schemas.microsoft.com/office/drawing/2014/main" id="{308CD2C0-CA55-5E84-421F-1A4EDED1A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6402" y="2128311"/>
            <a:ext cx="1502917" cy="1880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raphics Shaders: Theory and Practice, Second Edition">
            <a:extLst>
              <a:ext uri="{FF2B5EF4-FFF2-40B4-BE49-F238E27FC236}">
                <a16:creationId xmlns:a16="http://schemas.microsoft.com/office/drawing/2014/main" id="{2C6CDCE9-689D-1D90-3DFB-2B011BFC36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0121" y="2212789"/>
            <a:ext cx="1554361" cy="1877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https://images-na.ssl-images-amazon.com/images/I/61IucdGnZcL._SX401_BO1,204,203,200_.jpg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0312" y="2996436"/>
            <a:ext cx="1486238" cy="1843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1280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/>
          <p:cNvSpPr>
            <a:spLocks noGrp="1" noChangeArrowheads="1"/>
          </p:cNvSpPr>
          <p:nvPr>
            <p:ph type="title"/>
          </p:nvPr>
        </p:nvSpPr>
        <p:spPr>
          <a:xfrm>
            <a:off x="219904" y="157758"/>
            <a:ext cx="8435280" cy="6858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dirty="0">
                <a:solidFill>
                  <a:schemeClr val="tx2">
                    <a:satMod val="200000"/>
                  </a:schemeClr>
                </a:solidFill>
              </a:rPr>
              <a:t>Two sections:</a:t>
            </a:r>
            <a:endParaRPr lang="en-CA" sz="24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59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3528" y="987574"/>
            <a:ext cx="8496944" cy="371703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CA" sz="2000" dirty="0"/>
              <a:t>There are two sections in this class</a:t>
            </a:r>
          </a:p>
          <a:p>
            <a:pPr eaLnBrk="1" hangingPunct="1">
              <a:lnSpc>
                <a:spcPct val="90000"/>
              </a:lnSpc>
            </a:pPr>
            <a:r>
              <a:rPr lang="en-CA" sz="2000" dirty="0"/>
              <a:t>One is face-to-face, in person</a:t>
            </a:r>
          </a:p>
          <a:p>
            <a:pPr eaLnBrk="1" hangingPunct="1">
              <a:lnSpc>
                <a:spcPct val="90000"/>
              </a:lnSpc>
            </a:pPr>
            <a:r>
              <a:rPr lang="en-CA" sz="2000" dirty="0"/>
              <a:t>One is online asynchronous</a:t>
            </a:r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2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12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955" grpId="0" build="p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/>
          <p:cNvSpPr>
            <a:spLocks noGrp="1" noChangeArrowheads="1"/>
          </p:cNvSpPr>
          <p:nvPr>
            <p:ph type="title"/>
          </p:nvPr>
        </p:nvSpPr>
        <p:spPr>
          <a:xfrm>
            <a:off x="251520" y="-1584"/>
            <a:ext cx="8435280" cy="6858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dirty="0">
                <a:solidFill>
                  <a:schemeClr val="tx2">
                    <a:satMod val="200000"/>
                  </a:schemeClr>
                </a:solidFill>
              </a:rPr>
              <a:t>What you should know</a:t>
            </a:r>
            <a:r>
              <a:rPr lang="en-US" sz="2400" dirty="0">
                <a:solidFill>
                  <a:schemeClr val="tx2">
                    <a:satMod val="200000"/>
                  </a:schemeClr>
                </a:solidFill>
              </a:rPr>
              <a:t> (or </a:t>
            </a:r>
            <a:r>
              <a:rPr lang="en-US" sz="2400" u="sng" dirty="0">
                <a:solidFill>
                  <a:schemeClr val="tx2">
                    <a:satMod val="200000"/>
                  </a:schemeClr>
                </a:solidFill>
              </a:rPr>
              <a:t>will</a:t>
            </a:r>
            <a:r>
              <a:rPr lang="en-US" sz="2400" dirty="0">
                <a:solidFill>
                  <a:schemeClr val="tx2">
                    <a:satMod val="200000"/>
                  </a:schemeClr>
                </a:solidFill>
              </a:rPr>
              <a:t> know, soon)</a:t>
            </a:r>
            <a:endParaRPr lang="en-CA" sz="24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59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5536" y="843558"/>
            <a:ext cx="8496944" cy="371703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000" dirty="0"/>
              <a:t>Some C++, and how C++ projects build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1800" dirty="0"/>
              <a:t>compile vs. link, #include issues, file scope, etc.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dirty="0"/>
              <a:t>Some STL (vector, string, map, etc.)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dirty="0"/>
              <a:t>Some basic algorithm stuff, maybe 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1800" dirty="0"/>
              <a:t>Including the basics of the STL algorithm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1400" dirty="0"/>
              <a:t>Note: my def. of algorithm might be very, very different from yours… heads up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dirty="0"/>
              <a:t>Some debugging skills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dirty="0"/>
              <a:t>How to pay attention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dirty="0"/>
              <a:t>How to keep “plugging along” (</a:t>
            </a:r>
            <a:r>
              <a:rPr lang="en-US" sz="2000" dirty="0">
                <a:hlinkClick r:id="rId2"/>
              </a:rPr>
              <a:t>Coolidge</a:t>
            </a:r>
            <a:r>
              <a:rPr lang="en-US" sz="2000" dirty="0"/>
              <a:t>)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dirty="0"/>
              <a:t>Don’t know some (all?) of that?</a:t>
            </a:r>
          </a:p>
          <a:p>
            <a:pPr lvl="1" eaLnBrk="1" hangingPunct="1">
              <a:lnSpc>
                <a:spcPct val="90000"/>
              </a:lnSpc>
            </a:pPr>
            <a:r>
              <a:rPr lang="en-CA" sz="1800" dirty="0"/>
              <a:t>Well, that’s why you’re in school, right?</a:t>
            </a:r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2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12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1259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12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0" dur="500"/>
                                        <p:tgtEl>
                                          <p:spTgt spid="12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5" dur="500"/>
                                        <p:tgtEl>
                                          <p:spTgt spid="12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0" dur="500"/>
                                        <p:tgtEl>
                                          <p:spTgt spid="125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5" dur="500"/>
                                        <p:tgtEl>
                                          <p:spTgt spid="1259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0" dur="500"/>
                                        <p:tgtEl>
                                          <p:spTgt spid="1259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1259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6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955" grpId="0" uiExpand="1" build="p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14" name="Picture 2" descr="http://hinglecoaching.com/images/mission%20man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55576" y="0"/>
            <a:ext cx="7686425" cy="5143500"/>
          </a:xfrm>
          <a:prstGeom prst="rect">
            <a:avLst/>
          </a:prstGeom>
          <a:noFill/>
        </p:spPr>
      </p:pic>
      <p:sp>
        <p:nvSpPr>
          <p:cNvPr id="5" name="Right Arrow 4"/>
          <p:cNvSpPr/>
          <p:nvPr/>
        </p:nvSpPr>
        <p:spPr>
          <a:xfrm rot="3609618">
            <a:off x="2007886" y="849044"/>
            <a:ext cx="720080" cy="64807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/>
              <a:t>You</a:t>
            </a:r>
          </a:p>
        </p:txBody>
      </p:sp>
      <p:sp>
        <p:nvSpPr>
          <p:cNvPr id="6" name="Down Arrow 5"/>
          <p:cNvSpPr/>
          <p:nvPr/>
        </p:nvSpPr>
        <p:spPr>
          <a:xfrm rot="20420855">
            <a:off x="1025088" y="1706604"/>
            <a:ext cx="1080120" cy="282854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CA" sz="1600" dirty="0"/>
              <a:t>What you already know</a:t>
            </a:r>
          </a:p>
        </p:txBody>
      </p:sp>
      <p:sp>
        <p:nvSpPr>
          <p:cNvPr id="7" name="Down Arrow 6"/>
          <p:cNvSpPr/>
          <p:nvPr/>
        </p:nvSpPr>
        <p:spPr>
          <a:xfrm rot="20420855">
            <a:off x="6115998" y="103642"/>
            <a:ext cx="1080120" cy="280252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CA" sz="1600" dirty="0"/>
              <a:t>What you </a:t>
            </a:r>
            <a:r>
              <a:rPr lang="en-CA" sz="1600" b="1" u="sng" dirty="0"/>
              <a:t>want</a:t>
            </a:r>
            <a:r>
              <a:rPr lang="en-CA" sz="1600" dirty="0"/>
              <a:t> to know...</a:t>
            </a:r>
          </a:p>
        </p:txBody>
      </p:sp>
      <p:sp>
        <p:nvSpPr>
          <p:cNvPr id="8" name="Down Arrow 7"/>
          <p:cNvSpPr/>
          <p:nvPr/>
        </p:nvSpPr>
        <p:spPr>
          <a:xfrm>
            <a:off x="3563888" y="1707654"/>
            <a:ext cx="2664296" cy="2160240"/>
          </a:xfrm>
          <a:prstGeom prst="downArrow">
            <a:avLst>
              <a:gd name="adj1" fmla="val 63585"/>
              <a:gd name="adj2" fmla="val 31052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/>
              <a:t>Valley of confusion, lack of knowledge and skill, and frustration...</a:t>
            </a:r>
          </a:p>
        </p:txBody>
      </p:sp>
      <p:sp>
        <p:nvSpPr>
          <p:cNvPr id="9" name="Pentagon 8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  <p:sp>
        <p:nvSpPr>
          <p:cNvPr id="38916" name="AutoShape 4" descr="http://img1.wikia.nocookie.net/__cb20130817153508/spongebob/images/5/54/Tea_at_the_Treedome_Gallery_(03)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8918" name="AutoShape 6" descr="http://img1.wikia.nocookie.net/__cb20130817153508/spongebob/images/5/54/Tea_at_the_Treedome_Gallery_(03)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8920" name="AutoShape 8" descr="http://img1.wikia.nocookie.net/__cb20130817153508/spongebob/images/5/54/Tea_at_the_Treedome_Gallery_(03)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9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200" dirty="0">
                <a:solidFill>
                  <a:schemeClr val="tx2">
                    <a:satMod val="200000"/>
                  </a:schemeClr>
                </a:solidFill>
              </a:rPr>
              <a:t>But I’m, like, SUPER IMPATIENT, man!!!</a:t>
            </a:r>
            <a:endParaRPr lang="en-CA" sz="20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59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5536" y="1347614"/>
            <a:ext cx="8424936" cy="3024336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CA" sz="2400" dirty="0"/>
              <a:t>Why can’t we do something, like, TODAY!?</a:t>
            </a:r>
          </a:p>
          <a:p>
            <a:pPr eaLnBrk="1" hangingPunct="1">
              <a:lnSpc>
                <a:spcPct val="90000"/>
              </a:lnSpc>
            </a:pPr>
            <a:r>
              <a:rPr lang="en-CA" sz="2400" dirty="0"/>
              <a:t>I mean, we could use, like, a GAME ENGINE!</a:t>
            </a:r>
          </a:p>
          <a:p>
            <a:pPr eaLnBrk="1" hangingPunct="1">
              <a:lnSpc>
                <a:spcPct val="90000"/>
              </a:lnSpc>
            </a:pPr>
            <a:r>
              <a:rPr lang="en-CA" sz="2400" dirty="0"/>
              <a:t>Or Flash? HTML 5.0? Or Unity?? </a:t>
            </a:r>
            <a:br>
              <a:rPr lang="en-CA" sz="2400" dirty="0"/>
            </a:br>
            <a:r>
              <a:rPr lang="en-CA" sz="2400" dirty="0"/>
              <a:t>Why not that? It’s </a:t>
            </a:r>
            <a:r>
              <a:rPr lang="en-CA" sz="2400" i="1" u="sng" dirty="0"/>
              <a:t>so</a:t>
            </a:r>
            <a:r>
              <a:rPr lang="en-CA" sz="2400" dirty="0"/>
              <a:t> “easy”!</a:t>
            </a:r>
          </a:p>
          <a:p>
            <a:pPr eaLnBrk="1" hangingPunct="1">
              <a:lnSpc>
                <a:spcPct val="90000"/>
              </a:lnSpc>
            </a:pPr>
            <a:r>
              <a:rPr lang="en-CA" sz="2400" dirty="0"/>
              <a:t>Come ON!!!</a:t>
            </a:r>
          </a:p>
          <a:p>
            <a:pPr eaLnBrk="1" hangingPunct="1">
              <a:lnSpc>
                <a:spcPct val="90000"/>
              </a:lnSpc>
            </a:pPr>
            <a:r>
              <a:rPr lang="en-CA" sz="2400" dirty="0"/>
              <a:t>...Let me give you two analogies...</a:t>
            </a:r>
            <a:endParaRPr lang="en-CA" sz="2000" dirty="0"/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2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12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1259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12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955" grpId="0" uiExpand="1" build="p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576" y="0"/>
            <a:ext cx="7772400" cy="6858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200" dirty="0">
                <a:solidFill>
                  <a:schemeClr val="tx2">
                    <a:satMod val="200000"/>
                  </a:schemeClr>
                </a:solidFill>
              </a:rPr>
              <a:t>This is Glenn Gould &amp; Oscar Peterson</a:t>
            </a:r>
            <a:endParaRPr lang="en-CA" sz="20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59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699542"/>
            <a:ext cx="8640960" cy="1944216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CA" sz="2000" dirty="0"/>
              <a:t>They were two of the greatest piano players in history</a:t>
            </a:r>
          </a:p>
          <a:p>
            <a:pPr eaLnBrk="1" hangingPunct="1">
              <a:lnSpc>
                <a:spcPct val="90000"/>
              </a:lnSpc>
            </a:pPr>
            <a:r>
              <a:rPr lang="en-CA" sz="1800" dirty="0"/>
              <a:t>If you wanted to play like these guys, </a:t>
            </a:r>
            <a:r>
              <a:rPr lang="en-CA" sz="1800" i="1" u="sng" dirty="0"/>
              <a:t>how would you go about it?</a:t>
            </a:r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  <p:pic>
        <p:nvPicPr>
          <p:cNvPr id="45058" name="Picture 2" descr="D:\3111\D2D\Week 01\Glenn-Gould-Source-Unknown.jpg"/>
          <p:cNvPicPr>
            <a:picLocks noChangeAspect="1" noChangeArrowheads="1"/>
          </p:cNvPicPr>
          <p:nvPr/>
        </p:nvPicPr>
        <p:blipFill>
          <a:blip r:embed="rId3" cstate="print"/>
          <a:srcRect l="3226"/>
          <a:stretch>
            <a:fillRect/>
          </a:stretch>
        </p:blipFill>
        <p:spPr bwMode="auto">
          <a:xfrm>
            <a:off x="4612110" y="1779662"/>
            <a:ext cx="4320480" cy="2976331"/>
          </a:xfrm>
          <a:prstGeom prst="rect">
            <a:avLst/>
          </a:prstGeom>
          <a:noFill/>
        </p:spPr>
      </p:pic>
      <p:pic>
        <p:nvPicPr>
          <p:cNvPr id="45059" name="Picture 3" descr="D:\3111\D2D\Week 01\oscar_peterson.jpg"/>
          <p:cNvPicPr>
            <a:picLocks noChangeAspect="1" noChangeArrowheads="1"/>
          </p:cNvPicPr>
          <p:nvPr/>
        </p:nvPicPr>
        <p:blipFill>
          <a:blip r:embed="rId4" cstate="print"/>
          <a:srcRect r="8197"/>
          <a:stretch>
            <a:fillRect/>
          </a:stretch>
        </p:blipFill>
        <p:spPr bwMode="auto">
          <a:xfrm>
            <a:off x="435646" y="1779662"/>
            <a:ext cx="4032448" cy="2957609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45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45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" dur="500"/>
                                        <p:tgtEl>
                                          <p:spTgt spid="12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955" grpId="0" build="p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576" y="0"/>
            <a:ext cx="7992888" cy="6858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>
                <a:solidFill>
                  <a:schemeClr val="tx2">
                    <a:satMod val="200000"/>
                  </a:schemeClr>
                </a:solidFill>
              </a:rPr>
              <a:t>Or how about Bobby Orr or Wayne Gretzky?</a:t>
            </a:r>
            <a:endParaRPr lang="en-CA" sz="18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59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3528" y="699542"/>
            <a:ext cx="8820472" cy="64807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CA" sz="1600" dirty="0"/>
              <a:t>Again, if you wanted to play like these guys, </a:t>
            </a:r>
            <a:r>
              <a:rPr lang="en-CA" sz="1600" i="1" u="sng" dirty="0"/>
              <a:t>how would you go about it?</a:t>
            </a:r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  <p:pic>
        <p:nvPicPr>
          <p:cNvPr id="47106" name="Picture 2" descr="D:\3111\D2D\Week 01\img165-784x1024.jpg"/>
          <p:cNvPicPr>
            <a:picLocks noChangeAspect="1" noChangeArrowheads="1"/>
          </p:cNvPicPr>
          <p:nvPr/>
        </p:nvPicPr>
        <p:blipFill>
          <a:blip r:embed="rId3" cstate="print"/>
          <a:srcRect l="4346" t="11602" r="5501"/>
          <a:stretch>
            <a:fillRect/>
          </a:stretch>
        </p:blipFill>
        <p:spPr bwMode="auto">
          <a:xfrm>
            <a:off x="1619672" y="1131590"/>
            <a:ext cx="2880320" cy="3688839"/>
          </a:xfrm>
          <a:prstGeom prst="rect">
            <a:avLst/>
          </a:prstGeom>
          <a:noFill/>
        </p:spPr>
      </p:pic>
      <p:pic>
        <p:nvPicPr>
          <p:cNvPr id="47108" name="Picture 4" descr="D:\3111\D2D\Week 01\wayne-gretzk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32040" y="1168560"/>
            <a:ext cx="3121132" cy="365187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955" grpId="0" build="p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/>
          <p:cNvSpPr>
            <a:spLocks noGrp="1" noChangeArrowheads="1"/>
          </p:cNvSpPr>
          <p:nvPr>
            <p:ph type="title"/>
          </p:nvPr>
        </p:nvSpPr>
        <p:spPr>
          <a:xfrm>
            <a:off x="539552" y="123478"/>
            <a:ext cx="7772400" cy="6858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dirty="0">
                <a:solidFill>
                  <a:schemeClr val="tx2">
                    <a:satMod val="200000"/>
                  </a:schemeClr>
                </a:solidFill>
              </a:rPr>
              <a:t>Simple, but no simpler…</a:t>
            </a:r>
            <a:endParaRPr lang="en-CA" sz="24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59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915566"/>
            <a:ext cx="8420472" cy="100811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CA" sz="2400" dirty="0"/>
              <a:t>Well, we could start with something like this...</a:t>
            </a:r>
          </a:p>
          <a:p>
            <a:pPr eaLnBrk="1" hangingPunct="1">
              <a:lnSpc>
                <a:spcPct val="90000"/>
              </a:lnSpc>
            </a:pPr>
            <a:r>
              <a:rPr lang="en-CA" sz="2400" dirty="0"/>
              <a:t>But eventually, we’d have to use the real thing.</a:t>
            </a:r>
            <a:endParaRPr lang="en-CA" sz="2000" dirty="0"/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  <p:pic>
        <p:nvPicPr>
          <p:cNvPr id="46082" name="Picture 2" descr="D:\3111\D2D\Week 01\c26-B00804BDE0-1-l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7544" y="2139702"/>
            <a:ext cx="4248472" cy="2736016"/>
          </a:xfrm>
          <a:prstGeom prst="rect">
            <a:avLst/>
          </a:prstGeom>
          <a:noFill/>
        </p:spPr>
      </p:pic>
      <p:pic>
        <p:nvPicPr>
          <p:cNvPr id="46083" name="Picture 3" descr="D:\3111\D2D\Week 01\il_fullxfull.305981903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860032" y="2139702"/>
            <a:ext cx="4103822" cy="2727674"/>
          </a:xfrm>
          <a:prstGeom prst="rect">
            <a:avLst/>
          </a:prstGeom>
          <a:noFill/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/>
              <p14:cNvContentPartPr/>
              <p14:nvPr/>
            </p14:nvContentPartPr>
            <p14:xfrm>
              <a:off x="5676840" y="3343320"/>
              <a:ext cx="3086640" cy="1538640"/>
            </p14:xfrm>
          </p:contentPart>
        </mc:Choice>
        <mc:Fallback xmlns="">
          <p:pic>
            <p:nvPicPr>
              <p:cNvPr id="2" name="Ink 1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667480" y="3333960"/>
                <a:ext cx="3105360" cy="15573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460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46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" dur="500"/>
                                        <p:tgtEl>
                                          <p:spTgt spid="12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955" grpId="0" uiExpand="1" build="p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/>
          <p:cNvSpPr>
            <a:spLocks noGrp="1" noChangeArrowheads="1"/>
          </p:cNvSpPr>
          <p:nvPr>
            <p:ph type="title"/>
          </p:nvPr>
        </p:nvSpPr>
        <p:spPr>
          <a:xfrm>
            <a:off x="1115616" y="0"/>
            <a:ext cx="6768752" cy="1008112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sz="3600" dirty="0">
                <a:solidFill>
                  <a:schemeClr val="tx2">
                    <a:satMod val="200000"/>
                  </a:schemeClr>
                </a:solidFill>
              </a:rPr>
              <a:t>Commercial graphics APIs… </a:t>
            </a:r>
            <a:br>
              <a:rPr lang="en-US" sz="3600" dirty="0">
                <a:solidFill>
                  <a:schemeClr val="tx2">
                    <a:satMod val="200000"/>
                  </a:schemeClr>
                </a:solidFill>
              </a:rPr>
            </a:br>
            <a:r>
              <a:rPr lang="en-US" sz="2800" dirty="0">
                <a:solidFill>
                  <a:schemeClr val="tx2">
                    <a:satMod val="200000"/>
                  </a:schemeClr>
                </a:solidFill>
              </a:rPr>
              <a:t>(DirectX, OpenGL, </a:t>
            </a:r>
            <a:r>
              <a:rPr lang="en-US" sz="2800" dirty="0" err="1">
                <a:solidFill>
                  <a:schemeClr val="tx2">
                    <a:satMod val="200000"/>
                  </a:schemeClr>
                </a:solidFill>
              </a:rPr>
              <a:t>Vulkan</a:t>
            </a:r>
            <a:r>
              <a:rPr lang="en-US" sz="2800" dirty="0">
                <a:solidFill>
                  <a:schemeClr val="tx2">
                    <a:satMod val="200000"/>
                  </a:schemeClr>
                </a:solidFill>
              </a:rPr>
              <a:t>, Metal, etc.)</a:t>
            </a:r>
            <a:endParaRPr lang="en-CA" sz="18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59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1131590"/>
            <a:ext cx="8496944" cy="34290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CA" sz="2400" dirty="0"/>
              <a:t>Are very mature</a:t>
            </a:r>
          </a:p>
          <a:p>
            <a:pPr eaLnBrk="1" hangingPunct="1">
              <a:lnSpc>
                <a:spcPct val="90000"/>
              </a:lnSpc>
            </a:pPr>
            <a:r>
              <a:rPr lang="en-CA" sz="2400" dirty="0"/>
              <a:t>Aren’t intended to be “for beginners” </a:t>
            </a:r>
          </a:p>
          <a:p>
            <a:pPr eaLnBrk="1" hangingPunct="1">
              <a:lnSpc>
                <a:spcPct val="90000"/>
              </a:lnSpc>
            </a:pPr>
            <a:r>
              <a:rPr lang="en-CA" sz="2400" dirty="0"/>
              <a:t>There’s a lot of things that can “go wrong”</a:t>
            </a:r>
          </a:p>
          <a:p>
            <a:pPr eaLnBrk="1" hangingPunct="1">
              <a:lnSpc>
                <a:spcPct val="90000"/>
              </a:lnSpc>
            </a:pPr>
            <a:r>
              <a:rPr lang="en-CA" sz="2400" dirty="0"/>
              <a:t>There’s a lot of things you have to know before you can be even remotely productive</a:t>
            </a:r>
          </a:p>
          <a:p>
            <a:pPr lvl="1" eaLnBrk="1" hangingPunct="1">
              <a:lnSpc>
                <a:spcPct val="90000"/>
              </a:lnSpc>
            </a:pPr>
            <a:r>
              <a:rPr lang="en-CA" sz="2000" dirty="0"/>
              <a:t>(Just like playing an instrument...</a:t>
            </a:r>
          </a:p>
          <a:p>
            <a:pPr lvl="1" eaLnBrk="1" hangingPunct="1">
              <a:lnSpc>
                <a:spcPct val="90000"/>
              </a:lnSpc>
            </a:pPr>
            <a:r>
              <a:rPr lang="en-CA" sz="2000" dirty="0"/>
              <a:t>...or being ½ way useful at a sport, right?)</a:t>
            </a:r>
          </a:p>
          <a:p>
            <a:pPr eaLnBrk="1" hangingPunct="1">
              <a:lnSpc>
                <a:spcPct val="90000"/>
              </a:lnSpc>
            </a:pPr>
            <a:r>
              <a:rPr lang="en-CA" sz="2400" dirty="0"/>
              <a:t>You’re going to screw up/fall down... a lot.</a:t>
            </a:r>
          </a:p>
          <a:p>
            <a:pPr eaLnBrk="1" hangingPunct="1">
              <a:lnSpc>
                <a:spcPct val="90000"/>
              </a:lnSpc>
            </a:pPr>
            <a:r>
              <a:rPr lang="en-CA" sz="2400" dirty="0"/>
              <a:t>They are very low level (are “C”, NOT “C++” APIs) </a:t>
            </a:r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2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12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1259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" dur="500"/>
                                        <p:tgtEl>
                                          <p:spTgt spid="12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8" dur="500"/>
                                        <p:tgtEl>
                                          <p:spTgt spid="12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3" dur="500"/>
                                        <p:tgtEl>
                                          <p:spTgt spid="12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8" dur="500"/>
                                        <p:tgtEl>
                                          <p:spTgt spid="125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955" grpId="0" build="p"/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9552" y="123478"/>
            <a:ext cx="7772400" cy="6858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200" dirty="0">
                <a:solidFill>
                  <a:schemeClr val="tx2">
                    <a:satMod val="200000"/>
                  </a:schemeClr>
                </a:solidFill>
              </a:rPr>
              <a:t>What’s this course </a:t>
            </a:r>
            <a:r>
              <a:rPr lang="en-US" sz="3200" b="1" u="sng" dirty="0">
                <a:solidFill>
                  <a:schemeClr val="tx2">
                    <a:satMod val="200000"/>
                  </a:schemeClr>
                </a:solidFill>
              </a:rPr>
              <a:t>not</a:t>
            </a:r>
            <a:r>
              <a:rPr lang="en-US" sz="3200" dirty="0">
                <a:solidFill>
                  <a:schemeClr val="tx2">
                    <a:satMod val="200000"/>
                  </a:schemeClr>
                </a:solidFill>
              </a:rPr>
              <a:t> about (1/3)?</a:t>
            </a:r>
            <a:endParaRPr lang="en-CA" sz="32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69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915566"/>
            <a:ext cx="8424936" cy="392432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Ray-tracing.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Old OpenGL (fixed function pipeline)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Pre OpenGL 2.0 (</a:t>
            </a:r>
            <a:r>
              <a:rPr lang="en-US" sz="2000" dirty="0" err="1"/>
              <a:t>glVertex</a:t>
            </a:r>
            <a:r>
              <a:rPr lang="en-US" sz="2000" dirty="0"/>
              <a:t>(), etc.)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DirectX: </a:t>
            </a:r>
            <a:r>
              <a:rPr lang="en-US" sz="2000" dirty="0"/>
              <a:t>(there are a lot of similarities with OpenGL)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GDI, GDI+, Flash, HTML 5, </a:t>
            </a:r>
            <a:r>
              <a:rPr lang="en-US" sz="2400" dirty="0" err="1"/>
              <a:t>WebGL</a:t>
            </a:r>
            <a:r>
              <a:rPr lang="en-US" sz="2400" dirty="0"/>
              <a:t>, or any other graphics APIs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Especially, it’s </a:t>
            </a:r>
            <a:r>
              <a:rPr lang="en-US" sz="2400" i="1" dirty="0"/>
              <a:t>not </a:t>
            </a:r>
            <a:r>
              <a:rPr lang="en-US" sz="2400" dirty="0"/>
              <a:t>Unity (or </a:t>
            </a:r>
            <a:r>
              <a:rPr lang="en-US" sz="2400" dirty="0" err="1"/>
              <a:t>godot</a:t>
            </a:r>
            <a:r>
              <a:rPr lang="en-US" sz="2400" dirty="0"/>
              <a:t>) or whatever.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It’s </a:t>
            </a:r>
            <a:r>
              <a:rPr lang="en-US" sz="2000" i="1" dirty="0"/>
              <a:t>so </a:t>
            </a:r>
            <a:r>
              <a:rPr lang="en-US" sz="2000" dirty="0"/>
              <a:t>not that.</a:t>
            </a:r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6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26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126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1269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1269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2" dur="500"/>
                                        <p:tgtEl>
                                          <p:spTgt spid="1269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5" dur="500"/>
                                        <p:tgtEl>
                                          <p:spTgt spid="1269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979" grpId="0" uiExpand="1" build="p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0"/>
            <a:ext cx="7772400" cy="6858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200" dirty="0">
                <a:solidFill>
                  <a:schemeClr val="tx2">
                    <a:satMod val="200000"/>
                  </a:schemeClr>
                </a:solidFill>
              </a:rPr>
              <a:t>What’s this course </a:t>
            </a:r>
            <a:r>
              <a:rPr lang="en-US" sz="3200" b="1" u="sng" dirty="0">
                <a:solidFill>
                  <a:schemeClr val="tx2">
                    <a:satMod val="200000"/>
                  </a:schemeClr>
                </a:solidFill>
              </a:rPr>
              <a:t>not</a:t>
            </a:r>
            <a:r>
              <a:rPr lang="en-US" sz="3200" dirty="0">
                <a:solidFill>
                  <a:schemeClr val="tx2">
                    <a:satMod val="200000"/>
                  </a:schemeClr>
                </a:solidFill>
              </a:rPr>
              <a:t> about (3/3)?</a:t>
            </a:r>
            <a:endParaRPr lang="en-CA" sz="32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69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04" y="769218"/>
            <a:ext cx="9036496" cy="3816424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“Stupid” unnecessary programming/C++ stuff: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Pointless (aka. unnecessary) templates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Pointless (unnecessary) classes/inheritance</a:t>
            </a:r>
            <a:endParaRPr lang="en-US" sz="1800" dirty="0"/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Any combination of the words “best” and “algorithm” 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Anything the committee added “because it’s cool” or “modern”</a:t>
            </a:r>
          </a:p>
          <a:p>
            <a:pPr lvl="2" eaLnBrk="1" hangingPunct="1">
              <a:lnSpc>
                <a:spcPct val="90000"/>
              </a:lnSpc>
            </a:pPr>
            <a:r>
              <a:rPr lang="en-US" sz="1800" dirty="0"/>
              <a:t>Look into how the C++ committee is run…</a:t>
            </a:r>
          </a:p>
          <a:p>
            <a:pPr lvl="3" eaLnBrk="1" hangingPunct="1">
              <a:lnSpc>
                <a:spcPct val="90000"/>
              </a:lnSpc>
            </a:pPr>
            <a:r>
              <a:rPr lang="en-US" sz="1600" dirty="0"/>
              <a:t>It’s not a real reflection of what the programmers are doing/wanting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“best” way to do something.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This like arguing what’s “the best piece of LEGO” and missing the point that </a:t>
            </a:r>
            <a:r>
              <a:rPr lang="en-US" sz="2000" i="1" dirty="0"/>
              <a:t>you’re supposed to me MAKING something with the LEGO…</a:t>
            </a:r>
            <a:endParaRPr lang="en-US" sz="2000" dirty="0"/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6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26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126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" dur="500"/>
                                        <p:tgtEl>
                                          <p:spTgt spid="1269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" dur="500"/>
                                        <p:tgtEl>
                                          <p:spTgt spid="1269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" dur="500"/>
                                        <p:tgtEl>
                                          <p:spTgt spid="1269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1269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2" dur="500"/>
                                        <p:tgtEl>
                                          <p:spTgt spid="1269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5" dur="500"/>
                                        <p:tgtEl>
                                          <p:spTgt spid="1269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979" grpId="0" uiExpand="1" build="p"/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0"/>
            <a:ext cx="7772400" cy="6858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200" dirty="0">
                <a:solidFill>
                  <a:schemeClr val="tx2">
                    <a:satMod val="200000"/>
                  </a:schemeClr>
                </a:solidFill>
              </a:rPr>
              <a:t>Whatever is </a:t>
            </a:r>
            <a:r>
              <a:rPr lang="en-US" sz="3200" i="1" dirty="0">
                <a:solidFill>
                  <a:schemeClr val="tx2">
                    <a:satMod val="200000"/>
                  </a:schemeClr>
                </a:solidFill>
              </a:rPr>
              <a:t>really</a:t>
            </a:r>
            <a:r>
              <a:rPr lang="en-US" sz="3200" dirty="0">
                <a:solidFill>
                  <a:schemeClr val="tx2">
                    <a:satMod val="200000"/>
                  </a:schemeClr>
                </a:solidFill>
              </a:rPr>
              <a:t> in use, currently</a:t>
            </a:r>
            <a:endParaRPr lang="en-CA" sz="32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69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04" y="685800"/>
            <a:ext cx="9036496" cy="404619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It’ll be focused on C/C++ stuff that’s actually used.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It won’t be a “all the new stuff in the library”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Will lean towards more “system” stuff because: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C APIs tend to be more low level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Why use a “system language” (like C &amp; C++) if you don’t look at that. 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“Modern C++” tend to hide this stuff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John Blow says “Moden C++” means “I’m afraid of pointers”</a:t>
            </a:r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B528990-3104-D975-C5DF-D35CEC5C6476}"/>
                  </a:ext>
                </a:extLst>
              </p14:cNvPr>
              <p14:cNvContentPartPr/>
              <p14:nvPr/>
            </p14:nvContentPartPr>
            <p14:xfrm>
              <a:off x="919080" y="2652840"/>
              <a:ext cx="8106120" cy="10479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B528990-3104-D975-C5DF-D35CEC5C647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9720" y="2643480"/>
                <a:ext cx="8124840" cy="1066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6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26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126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" dur="500"/>
                                        <p:tgtEl>
                                          <p:spTgt spid="1269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1269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6" dur="500"/>
                                        <p:tgtEl>
                                          <p:spTgt spid="1269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9" dur="500"/>
                                        <p:tgtEl>
                                          <p:spTgt spid="1269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979" grpId="0" build="p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9552" y="195486"/>
            <a:ext cx="7772400" cy="6858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>
                <a:solidFill>
                  <a:schemeClr val="tx2">
                    <a:satMod val="200000"/>
                  </a:schemeClr>
                </a:solidFill>
              </a:rPr>
              <a:t>Other things</a:t>
            </a:r>
            <a:endParaRPr lang="en-CA" sz="28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69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9512" y="915566"/>
            <a:ext cx="8640960" cy="383431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 dirty="0"/>
              <a:t>No </a:t>
            </a:r>
            <a:r>
              <a:rPr lang="en-US" sz="2800" b="1" dirty="0"/>
              <a:t>boost</a:t>
            </a:r>
            <a:r>
              <a:rPr lang="en-US" sz="2800" dirty="0"/>
              <a:t> and other 3</a:t>
            </a:r>
            <a:r>
              <a:rPr lang="en-US" sz="2800" baseline="30000" dirty="0"/>
              <a:t>rd</a:t>
            </a:r>
            <a:r>
              <a:rPr lang="en-US" sz="2800" dirty="0"/>
              <a:t> party libraries. 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i="1" u="sng" dirty="0"/>
              <a:t>If you use boost in your exams or projects, they will </a:t>
            </a:r>
            <a:r>
              <a:rPr lang="en-US" sz="2000" b="1" i="1" u="sng" dirty="0"/>
              <a:t>not</a:t>
            </a:r>
            <a:r>
              <a:rPr lang="en-US" sz="2000" i="1" u="sng" dirty="0"/>
              <a:t> be marked</a:t>
            </a:r>
            <a:r>
              <a:rPr lang="en-US" sz="2000" i="1" dirty="0"/>
              <a:t>. </a:t>
            </a:r>
            <a:r>
              <a:rPr lang="en-US" sz="2000" dirty="0"/>
              <a:t>Find another way. 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boost is </a:t>
            </a:r>
            <a:r>
              <a:rPr lang="en-US" sz="2000" b="1" i="1" dirty="0"/>
              <a:t>*written in* </a:t>
            </a:r>
            <a:r>
              <a:rPr lang="en-US" sz="2000" dirty="0"/>
              <a:t>C++, but boost </a:t>
            </a:r>
            <a:r>
              <a:rPr lang="en-US" sz="2000" b="1" dirty="0"/>
              <a:t>!=</a:t>
            </a:r>
            <a:r>
              <a:rPr lang="en-US" sz="2000" dirty="0"/>
              <a:t> C++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“auto” keyboard. Just no. 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I reserve the right to give you zero if you use auto.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Yes, I’m very aware of what it does, etc.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Any other library: ask me first, but likely “no”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Just do it the way I asked because I ask you to.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Like arrays, etc.</a:t>
            </a:r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 sz="16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6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26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126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1269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" dur="500"/>
                                        <p:tgtEl>
                                          <p:spTgt spid="1269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8" dur="500"/>
                                        <p:tgtEl>
                                          <p:spTgt spid="1269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3" dur="500"/>
                                        <p:tgtEl>
                                          <p:spTgt spid="1269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8" dur="500"/>
                                        <p:tgtEl>
                                          <p:spTgt spid="1269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1" dur="500"/>
                                        <p:tgtEl>
                                          <p:spTgt spid="1269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979" grpId="0" uiExpand="1" build="p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9552" y="195486"/>
            <a:ext cx="7772400" cy="6858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err="1">
                <a:solidFill>
                  <a:schemeClr val="tx2">
                    <a:satMod val="200000"/>
                  </a:schemeClr>
                </a:solidFill>
              </a:rPr>
              <a:t>chatGPT</a:t>
            </a:r>
            <a:r>
              <a:rPr lang="en-US" sz="2800" dirty="0">
                <a:solidFill>
                  <a:schemeClr val="tx2">
                    <a:satMod val="200000"/>
                  </a:schemeClr>
                </a:solidFill>
              </a:rPr>
              <a:t>, etc. : Here’s The Deal</a:t>
            </a:r>
            <a:endParaRPr lang="en-CA" sz="2800" dirty="0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269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9512" y="915566"/>
            <a:ext cx="8784976" cy="383431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000" dirty="0"/>
              <a:t>I’m expecting you to </a:t>
            </a:r>
            <a:r>
              <a:rPr lang="en-US" sz="2000" u="sng" dirty="0"/>
              <a:t>know how to do this</a:t>
            </a:r>
            <a:r>
              <a:rPr lang="en-US" sz="2000" dirty="0"/>
              <a:t>.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dirty="0"/>
              <a:t>This doesn’t mean “just getting an answer”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dirty="0"/>
              <a:t>If I </a:t>
            </a:r>
            <a:r>
              <a:rPr lang="en-US" sz="2000" i="1" dirty="0"/>
              <a:t>suspect</a:t>
            </a:r>
            <a:r>
              <a:rPr lang="en-US" sz="2000" dirty="0"/>
              <a:t> that you don’t know the code you submitted (either you copied it, </a:t>
            </a:r>
            <a:r>
              <a:rPr lang="en-US" sz="2000" dirty="0" err="1"/>
              <a:t>chatGPT’d</a:t>
            </a:r>
            <a:r>
              <a:rPr lang="en-US" sz="2000" dirty="0"/>
              <a:t> it, got it from another site…)</a:t>
            </a:r>
            <a:br>
              <a:rPr lang="en-US" sz="2000" dirty="0"/>
            </a:br>
            <a:r>
              <a:rPr lang="en-US" sz="2000" dirty="0"/>
              <a:t>then I will ask you about it, one on one, face to face (or zoom)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dirty="0"/>
              <a:t>At that point, you need to prove to me that you actually know what the heck you are talking about. 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dirty="0"/>
              <a:t>It’s a “guilty until proven innocent” situation.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dirty="0"/>
              <a:t>If you are clueless, then you cheated. </a:t>
            </a:r>
          </a:p>
        </p:txBody>
      </p:sp>
      <p:sp>
        <p:nvSpPr>
          <p:cNvPr id="7" name="Pentagon 6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 sz="1600"/>
          </a:p>
        </p:txBody>
      </p:sp>
    </p:spTree>
    <p:extLst>
      <p:ext uri="{BB962C8B-B14F-4D97-AF65-F5344CB8AC3E}">
        <p14:creationId xmlns:p14="http://schemas.microsoft.com/office/powerpoint/2010/main" val="321461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6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26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126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1269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1269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2" dur="500"/>
                                        <p:tgtEl>
                                          <p:spTgt spid="1269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979" grpId="0" uiExpand="1" build="p"/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4" name="WordArt 4"/>
          <p:cNvSpPr>
            <a:spLocks noChangeArrowheads="1" noChangeShapeType="1" noTextEdit="1"/>
          </p:cNvSpPr>
          <p:nvPr/>
        </p:nvSpPr>
        <p:spPr bwMode="auto">
          <a:xfrm>
            <a:off x="179388" y="1491853"/>
            <a:ext cx="8432800" cy="1889522"/>
          </a:xfrm>
          <a:prstGeom prst="rect">
            <a:avLst/>
          </a:prstGeom>
        </p:spPr>
        <p:txBody>
          <a:bodyPr wrap="none" fromWordArt="1">
            <a:prstTxWarp prst="textCascadeUp">
              <a:avLst>
                <a:gd name="adj" fmla="val 44444"/>
              </a:avLst>
            </a:prstTxWarp>
            <a:scene3d>
              <a:camera prst="legacyPerspectiveFront">
                <a:rot lat="20519994" lon="1080000" rev="0"/>
              </a:camera>
              <a:lightRig rig="legacyHarsh2" dir="b"/>
            </a:scene3d>
            <a:sp3d extrusionH="430200" prstMaterial="legacyMatte">
              <a:extrusionClr>
                <a:srgbClr val="FF6600"/>
              </a:extrusionClr>
            </a:sp3d>
          </a:bodyPr>
          <a:lstStyle/>
          <a:p>
            <a:pPr algn="ctr"/>
            <a:r>
              <a:rPr lang="en-US" sz="3600" kern="1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FFE701"/>
                    </a:gs>
                    <a:gs pos="100000">
                      <a:srgbClr val="FE3E02"/>
                    </a:gs>
                  </a:gsLst>
                  <a:lin ang="5400000" scaled="1"/>
                </a:gradFill>
                <a:latin typeface="Impact"/>
              </a:rPr>
              <a:t>How you pass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4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to="" calcmode="lin" valueType="num">
                                      <p:cBhvr>
                                        <p:cTn id="7" dur="1" fill="hold"/>
                                        <p:tgtEl>
                                          <p:spTgt spid="122884"/>
                                        </p:tgtEl>
                                        <p:attrNameLst>
                                          <p:attrName/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88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123478"/>
            <a:ext cx="7772400" cy="685800"/>
          </a:xfrm>
        </p:spPr>
        <p:txBody>
          <a:bodyPr wrap="square" lIns="91440" tIns="45720" rIns="91440" bIns="45720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Your marks…</a:t>
            </a:r>
            <a:endParaRPr lang="en-CA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sp>
        <p:nvSpPr>
          <p:cNvPr id="1218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0" y="915566"/>
            <a:ext cx="8820472" cy="3816424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“Project” mark: 40% 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10-12 checkpoints worth 10% TOTAL</a:t>
            </a:r>
          </a:p>
          <a:p>
            <a:pPr lvl="2" eaLnBrk="1" hangingPunct="1">
              <a:lnSpc>
                <a:spcPct val="90000"/>
              </a:lnSpc>
            </a:pPr>
            <a:r>
              <a:rPr lang="en-US" sz="1800" dirty="0"/>
              <a:t>(Lowest 2 marks will be dropped, so you can miss 2)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2 projects worth 15% each</a:t>
            </a:r>
          </a:p>
          <a:p>
            <a:pPr lvl="2" eaLnBrk="1" hangingPunct="1">
              <a:lnSpc>
                <a:spcPct val="90000"/>
              </a:lnSpc>
            </a:pPr>
            <a:r>
              <a:rPr lang="en-US" sz="2000" dirty="0"/>
              <a:t>Projects are due right before the exam, and are intended to help you prepare for the exam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“Exam” mark: 60%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Midterm and final (each 30%)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i="1" u="sng" dirty="0"/>
              <a:t>You have to pass the exam portion to pass the course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dirty="0"/>
              <a:t>50% is a “pass” in this AND EVERY OTHER course.</a:t>
            </a:r>
          </a:p>
        </p:txBody>
      </p:sp>
      <p:sp>
        <p:nvSpPr>
          <p:cNvPr id="5" name="Pentagon 4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1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21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21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121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500"/>
                                        <p:tgtEl>
                                          <p:spTgt spid="121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" dur="500"/>
                                        <p:tgtEl>
                                          <p:spTgt spid="121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121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0" dur="500"/>
                                        <p:tgtEl>
                                          <p:spTgt spid="1218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5" dur="500"/>
                                        <p:tgtEl>
                                          <p:spTgt spid="1218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859" grpId="0" build="p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123478"/>
            <a:ext cx="7772400" cy="685800"/>
          </a:xfrm>
        </p:spPr>
        <p:txBody>
          <a:bodyPr wrap="square" lIns="91440" tIns="45720" rIns="91440" bIns="45720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Checkpoints: 10%</a:t>
            </a:r>
            <a:endParaRPr lang="en-CA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sp>
        <p:nvSpPr>
          <p:cNvPr id="1218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0" y="915566"/>
            <a:ext cx="8820472" cy="3816424"/>
          </a:xfrm>
        </p:spPr>
        <p:txBody>
          <a:bodyPr/>
          <a:lstStyle/>
          <a:p>
            <a:pPr eaLnBrk="1" hangingPunct="1"/>
            <a:r>
              <a:rPr lang="en-CA" sz="1800" dirty="0"/>
              <a:t>Assigned at the </a:t>
            </a:r>
            <a:r>
              <a:rPr lang="en-CA" sz="1800" i="1" dirty="0"/>
              <a:t>end</a:t>
            </a:r>
            <a:r>
              <a:rPr lang="en-CA" sz="1800" dirty="0"/>
              <a:t> of class</a:t>
            </a:r>
          </a:p>
          <a:p>
            <a:pPr eaLnBrk="1" hangingPunct="1"/>
            <a:r>
              <a:rPr lang="en-CA" sz="1800" dirty="0"/>
              <a:t>Due at the </a:t>
            </a:r>
            <a:r>
              <a:rPr lang="en-CA" sz="1800" i="1" dirty="0"/>
              <a:t>start</a:t>
            </a:r>
            <a:r>
              <a:rPr lang="en-CA" sz="1800" dirty="0"/>
              <a:t> of the </a:t>
            </a:r>
            <a:r>
              <a:rPr lang="en-CA" sz="1800" i="1" dirty="0"/>
              <a:t>next class</a:t>
            </a:r>
          </a:p>
          <a:p>
            <a:pPr eaLnBrk="1" hangingPunct="1"/>
            <a:r>
              <a:rPr lang="en-CA" sz="1800" dirty="0"/>
              <a:t>There are </a:t>
            </a:r>
            <a:r>
              <a:rPr lang="en-CA" sz="1800" u="sng" dirty="0"/>
              <a:t>no extensions or late marks</a:t>
            </a:r>
            <a:r>
              <a:rPr lang="en-CA" sz="1800" dirty="0"/>
              <a:t>, </a:t>
            </a:r>
            <a:br>
              <a:rPr lang="en-CA" sz="1800" dirty="0"/>
            </a:br>
            <a:r>
              <a:rPr lang="en-CA" sz="1800" dirty="0"/>
              <a:t>since I’ll be giving you the solutions. </a:t>
            </a:r>
            <a:endParaRPr lang="en-US" sz="1800" dirty="0"/>
          </a:p>
          <a:p>
            <a:pPr marL="411163" lvl="1" indent="-342900" eaLnBrk="1" hangingPunct="1"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CA" sz="1800" dirty="0"/>
              <a:t>You should do them </a:t>
            </a:r>
            <a:r>
              <a:rPr lang="en-CA" sz="1800" i="1" dirty="0"/>
              <a:t>yourself.</a:t>
            </a:r>
            <a:endParaRPr lang="en-US" sz="1800" dirty="0"/>
          </a:p>
          <a:p>
            <a:pPr marL="411163" lvl="1" indent="-342900" eaLnBrk="1" hangingPunct="1"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CA" sz="1800" u="sng" dirty="0"/>
              <a:t>There are no late marks </a:t>
            </a:r>
            <a:r>
              <a:rPr lang="en-CA" sz="1400" dirty="0"/>
              <a:t>(since I will be giving a solution at the next class.)</a:t>
            </a:r>
            <a:endParaRPr lang="en-CA" sz="1800" dirty="0"/>
          </a:p>
          <a:p>
            <a:pPr marL="411163" lvl="1" indent="-342900" eaLnBrk="1" hangingPunct="1"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CA" sz="1800" dirty="0"/>
              <a:t>There </a:t>
            </a:r>
            <a:r>
              <a:rPr lang="en-CA" sz="1800" b="1" i="1" dirty="0"/>
              <a:t>might</a:t>
            </a:r>
            <a:r>
              <a:rPr lang="en-CA" sz="1800" dirty="0"/>
              <a:t> be a “bonus” checkpoint at the end, worth 2%, added directly to your mark (up to the 40% of the “projects” portion)</a:t>
            </a:r>
          </a:p>
          <a:p>
            <a:pPr marL="411163" lvl="1" indent="-342900" eaLnBrk="1" hangingPunct="1"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US" sz="1800" dirty="0"/>
              <a:t>The students who do their own checkpoints tend to do better on the exams. Really?! Who would have thought?</a:t>
            </a:r>
          </a:p>
        </p:txBody>
      </p:sp>
      <p:sp>
        <p:nvSpPr>
          <p:cNvPr id="5" name="Pentagon 4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1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21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121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" dur="500"/>
                                        <p:tgtEl>
                                          <p:spTgt spid="121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" dur="500"/>
                                        <p:tgtEl>
                                          <p:spTgt spid="121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" dur="500"/>
                                        <p:tgtEl>
                                          <p:spTgt spid="121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121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859" grpId="0" uiExpand="1" build="p"/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123478"/>
            <a:ext cx="7772400" cy="685800"/>
          </a:xfrm>
        </p:spPr>
        <p:txBody>
          <a:bodyPr wrap="square" lIns="91440" tIns="45720" rIns="91440" bIns="45720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2 Projects: 15% each</a:t>
            </a:r>
            <a:endParaRPr lang="en-CA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sp>
        <p:nvSpPr>
          <p:cNvPr id="1218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0" y="915566"/>
            <a:ext cx="8820472" cy="3816424"/>
          </a:xfrm>
        </p:spPr>
        <p:txBody>
          <a:bodyPr/>
          <a:lstStyle/>
          <a:p>
            <a:pPr eaLnBrk="1" hangingPunct="1"/>
            <a:r>
              <a:rPr lang="en-CA" sz="1800" dirty="0"/>
              <a:t>Due right before the exams.</a:t>
            </a:r>
            <a:endParaRPr lang="en-CA" sz="1800" i="1" dirty="0"/>
          </a:p>
          <a:p>
            <a:pPr eaLnBrk="1" hangingPunct="1"/>
            <a:r>
              <a:rPr lang="en-CA" sz="1800" dirty="0"/>
              <a:t>Unless there are “exceptional circumstances” (Policy A-131), if you miss the deadline, you get zero (that </a:t>
            </a:r>
            <a:r>
              <a:rPr lang="en-CA" sz="1800" i="1" dirty="0"/>
              <a:t>is </a:t>
            </a:r>
            <a:r>
              <a:rPr lang="en-CA" sz="1800" dirty="0"/>
              <a:t>the policy, by the way)</a:t>
            </a:r>
            <a:endParaRPr lang="en-US" sz="1800" dirty="0"/>
          </a:p>
          <a:p>
            <a:pPr marL="411163" lvl="1" indent="-342900" eaLnBrk="1" hangingPunct="1"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CA" sz="1800" dirty="0"/>
              <a:t>You should do them </a:t>
            </a:r>
            <a:r>
              <a:rPr lang="en-CA" sz="1800" i="1" dirty="0"/>
              <a:t>yourself.</a:t>
            </a:r>
            <a:endParaRPr lang="en-US" sz="1800" dirty="0"/>
          </a:p>
          <a:p>
            <a:pPr marL="411163" lvl="1" indent="-342900" eaLnBrk="1" hangingPunct="1"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CA" sz="1800" u="sng" dirty="0"/>
              <a:t>There are no late marks</a:t>
            </a:r>
            <a:r>
              <a:rPr lang="en-CA" sz="1800" dirty="0"/>
              <a:t> </a:t>
            </a:r>
          </a:p>
          <a:p>
            <a:pPr marL="666751" lvl="2" indent="-342900" eaLnBrk="1" hangingPunct="1"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CA" sz="1200" dirty="0"/>
              <a:t>Unless there are “exceptional circumstances” (Policy A-131)</a:t>
            </a:r>
          </a:p>
          <a:p>
            <a:pPr marL="666751" lvl="2" indent="-342900" eaLnBrk="1" hangingPunct="1"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CA" sz="1200" dirty="0"/>
              <a:t>If you miss the deadline, you get zero (that </a:t>
            </a:r>
            <a:r>
              <a:rPr lang="en-CA" sz="1200" i="1" dirty="0"/>
              <a:t>is </a:t>
            </a:r>
            <a:r>
              <a:rPr lang="en-CA" sz="1200" dirty="0"/>
              <a:t>the policy, by the way)</a:t>
            </a:r>
            <a:endParaRPr lang="en-CA" sz="1600" dirty="0"/>
          </a:p>
          <a:p>
            <a:pPr marL="411163" lvl="1" indent="-342900" eaLnBrk="1" hangingPunct="1"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CA" sz="1800" dirty="0"/>
              <a:t>Projects are intended to help you with the exam. i.e. if you did well on your project (delivered what I ask for) then you should pass the exam.</a:t>
            </a:r>
            <a:endParaRPr lang="en-US" sz="1800" dirty="0"/>
          </a:p>
        </p:txBody>
      </p:sp>
      <p:sp>
        <p:nvSpPr>
          <p:cNvPr id="5" name="Pentagon 4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2239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1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21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21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121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500"/>
                                        <p:tgtEl>
                                          <p:spTgt spid="121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121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" dur="500"/>
                                        <p:tgtEl>
                                          <p:spTgt spid="121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859" grpId="0" uiExpand="1" build="p"/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123478"/>
            <a:ext cx="7772400" cy="685800"/>
          </a:xfrm>
        </p:spPr>
        <p:txBody>
          <a:bodyPr wrap="square" lIns="91440" tIns="45720" rIns="91440" bIns="45720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2 Exams: 30% each</a:t>
            </a:r>
            <a:endParaRPr lang="en-CA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sp>
        <p:nvSpPr>
          <p:cNvPr id="1218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0" y="915566"/>
            <a:ext cx="8820472" cy="3816424"/>
          </a:xfrm>
        </p:spPr>
        <p:txBody>
          <a:bodyPr/>
          <a:lstStyle/>
          <a:p>
            <a:pPr marL="411163" lvl="1" indent="-342900" eaLnBrk="1" hangingPunct="1">
              <a:lnSpc>
                <a:spcPct val="150000"/>
              </a:lnSpc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CA" sz="1800" dirty="0"/>
              <a:t>2 of them: mid-term (around day 7/8) &amp; final (day 14/“exam week”)</a:t>
            </a:r>
            <a:endParaRPr lang="en-US" sz="1800" dirty="0"/>
          </a:p>
          <a:p>
            <a:pPr marL="411163" lvl="1" indent="-342900" eaLnBrk="1" hangingPunct="1">
              <a:lnSpc>
                <a:spcPct val="150000"/>
              </a:lnSpc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US" sz="1800" dirty="0"/>
              <a:t>“3 hours” in that you can complete it in 3 hours. </a:t>
            </a:r>
          </a:p>
          <a:p>
            <a:pPr marL="666751" lvl="2" indent="-342900" eaLnBrk="1" hangingPunct="1">
              <a:lnSpc>
                <a:spcPct val="150000"/>
              </a:lnSpc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CA" sz="1600" dirty="0"/>
              <a:t>Face to face, in person students: you’ll write exams in class, in a 3-hour time block at the usual class time.</a:t>
            </a:r>
          </a:p>
          <a:p>
            <a:pPr marL="666751" lvl="2" indent="-342900" eaLnBrk="1" hangingPunct="1">
              <a:lnSpc>
                <a:spcPct val="150000"/>
              </a:lnSpc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CA" sz="1600" dirty="0"/>
              <a:t>Asynchronous students: will have a different exam that you have a time window to complete and submit.  </a:t>
            </a:r>
          </a:p>
          <a:p>
            <a:pPr marL="411163" lvl="1" indent="-342900" eaLnBrk="1" hangingPunct="1">
              <a:lnSpc>
                <a:spcPct val="150000"/>
              </a:lnSpc>
              <a:spcBef>
                <a:spcPts val="700"/>
              </a:spcBef>
              <a:buSzPct val="95000"/>
              <a:buFont typeface="Wingdings" pitchFamily="2" charset="2"/>
              <a:buChar char=""/>
            </a:pPr>
            <a:r>
              <a:rPr lang="en-CA" sz="1800" dirty="0"/>
              <a:t>There’s no “late submission” window for exams. </a:t>
            </a:r>
          </a:p>
        </p:txBody>
      </p:sp>
      <p:sp>
        <p:nvSpPr>
          <p:cNvPr id="5" name="Pentagon 4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1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21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21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121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500"/>
                                        <p:tgtEl>
                                          <p:spTgt spid="121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859" grpId="0" build="p"/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539552" y="123478"/>
            <a:ext cx="7772400" cy="685800"/>
          </a:xfrm>
        </p:spPr>
        <p:txBody>
          <a:bodyPr wrap="square" lIns="91440" tIns="45720" rIns="91440" bIns="45720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en-US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“Part marks”</a:t>
            </a:r>
            <a:endParaRPr lang="en-CA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sp>
        <p:nvSpPr>
          <p:cNvPr id="121859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468313" y="1006078"/>
            <a:ext cx="8424862" cy="3797919"/>
          </a:xfrm>
        </p:spPr>
        <p:txBody>
          <a:bodyPr/>
          <a:lstStyle/>
          <a:p>
            <a:pPr eaLnBrk="1" hangingPunct="1">
              <a:lnSpc>
                <a:spcPct val="70000"/>
              </a:lnSpc>
            </a:pPr>
            <a:r>
              <a:rPr lang="en-US" sz="2400" dirty="0"/>
              <a:t>Students seem to love “part marks.”</a:t>
            </a:r>
          </a:p>
          <a:p>
            <a:pPr eaLnBrk="1" hangingPunct="1">
              <a:lnSpc>
                <a:spcPct val="70000"/>
              </a:lnSpc>
            </a:pPr>
            <a:r>
              <a:rPr lang="en-US" sz="2400" dirty="0"/>
              <a:t>Now, I’ll try really hard to be fair, but:</a:t>
            </a:r>
          </a:p>
          <a:p>
            <a:pPr lvl="1" eaLnBrk="1" hangingPunct="1">
              <a:lnSpc>
                <a:spcPct val="70000"/>
              </a:lnSpc>
            </a:pPr>
            <a:r>
              <a:rPr lang="en-CA" sz="2000" dirty="0"/>
              <a:t>Have you ever had a plumber “almost” fix your toilet?</a:t>
            </a:r>
          </a:p>
          <a:p>
            <a:pPr lvl="2" eaLnBrk="1" hangingPunct="1">
              <a:lnSpc>
                <a:spcPct val="70000"/>
              </a:lnSpc>
            </a:pPr>
            <a:r>
              <a:rPr lang="en-CA" sz="1800" dirty="0"/>
              <a:t>Did you pay them?</a:t>
            </a:r>
          </a:p>
          <a:p>
            <a:pPr lvl="1" eaLnBrk="1" hangingPunct="1">
              <a:lnSpc>
                <a:spcPct val="70000"/>
              </a:lnSpc>
            </a:pPr>
            <a:r>
              <a:rPr lang="en-CA" sz="2000" dirty="0"/>
              <a:t>Ever “sort of” broke your leg?</a:t>
            </a:r>
          </a:p>
          <a:p>
            <a:pPr lvl="2" eaLnBrk="1" hangingPunct="1">
              <a:lnSpc>
                <a:spcPct val="70000"/>
              </a:lnSpc>
            </a:pPr>
            <a:r>
              <a:rPr lang="en-CA" sz="1800" dirty="0"/>
              <a:t>Get a cast for that?</a:t>
            </a:r>
          </a:p>
          <a:p>
            <a:pPr lvl="1" eaLnBrk="1" hangingPunct="1">
              <a:lnSpc>
                <a:spcPct val="70000"/>
              </a:lnSpc>
            </a:pPr>
            <a:r>
              <a:rPr lang="en-CA" sz="2000" dirty="0"/>
              <a:t>Ever “almost” paid your mortgage?</a:t>
            </a:r>
          </a:p>
          <a:p>
            <a:pPr lvl="2" eaLnBrk="1" hangingPunct="1">
              <a:lnSpc>
                <a:spcPct val="70000"/>
              </a:lnSpc>
            </a:pPr>
            <a:r>
              <a:rPr lang="en-CA" sz="1800" dirty="0"/>
              <a:t>How did the bank like that?</a:t>
            </a:r>
          </a:p>
          <a:p>
            <a:pPr lvl="1" eaLnBrk="1" hangingPunct="1">
              <a:lnSpc>
                <a:spcPct val="70000"/>
              </a:lnSpc>
            </a:pPr>
            <a:r>
              <a:rPr lang="en-CA" sz="2000" dirty="0"/>
              <a:t>Did you buddy “almost” pay you that $50 they owe?</a:t>
            </a:r>
          </a:p>
          <a:p>
            <a:pPr lvl="2" eaLnBrk="1" hangingPunct="1">
              <a:lnSpc>
                <a:spcPct val="70000"/>
              </a:lnSpc>
            </a:pPr>
            <a:r>
              <a:rPr lang="en-CA" sz="1800" dirty="0"/>
              <a:t>Did you call that square?</a:t>
            </a:r>
          </a:p>
          <a:p>
            <a:pPr lvl="2" eaLnBrk="1" hangingPunct="1">
              <a:lnSpc>
                <a:spcPct val="70000"/>
              </a:lnSpc>
            </a:pPr>
            <a:r>
              <a:rPr lang="en-CA" sz="1800" dirty="0"/>
              <a:t>Would you loan them money again?</a:t>
            </a:r>
          </a:p>
          <a:p>
            <a:pPr eaLnBrk="1" hangingPunct="1">
              <a:lnSpc>
                <a:spcPct val="70000"/>
              </a:lnSpc>
            </a:pPr>
            <a:r>
              <a:rPr lang="en-CA" sz="2000" b="1" u="sng" dirty="0"/>
              <a:t>If your code won’t build, then I can’t mark it. </a:t>
            </a:r>
            <a:r>
              <a:rPr lang="en-CA" sz="2000" dirty="0"/>
              <a:t>Period.</a:t>
            </a:r>
          </a:p>
          <a:p>
            <a:pPr eaLnBrk="1" hangingPunct="1">
              <a:lnSpc>
                <a:spcPct val="70000"/>
              </a:lnSpc>
            </a:pPr>
            <a:r>
              <a:rPr lang="en-CA" sz="2000" dirty="0"/>
              <a:t>You can’t “almost” meet a checkpoint. </a:t>
            </a:r>
          </a:p>
        </p:txBody>
      </p:sp>
      <p:sp>
        <p:nvSpPr>
          <p:cNvPr id="5" name="Pentagon 4"/>
          <p:cNvSpPr/>
          <p:nvPr/>
        </p:nvSpPr>
        <p:spPr>
          <a:xfrm>
            <a:off x="8820150" y="5001816"/>
            <a:ext cx="323850" cy="141684"/>
          </a:xfrm>
          <a:prstGeom prst="homePlate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CA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1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21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121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121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121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2" dur="500"/>
                                        <p:tgtEl>
                                          <p:spTgt spid="121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7" dur="500"/>
                                        <p:tgtEl>
                                          <p:spTgt spid="121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2" dur="500"/>
                                        <p:tgtEl>
                                          <p:spTgt spid="1218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7" dur="500"/>
                                        <p:tgtEl>
                                          <p:spTgt spid="1218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2" dur="500"/>
                                        <p:tgtEl>
                                          <p:spTgt spid="1218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7" dur="500"/>
                                        <p:tgtEl>
                                          <p:spTgt spid="1218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62" dur="500"/>
                                        <p:tgtEl>
                                          <p:spTgt spid="1218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67" dur="500"/>
                                        <p:tgtEl>
                                          <p:spTgt spid="1218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859" grpId="0" uiExpand="1" build="p"/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464A7A-E8EF-DCF1-A872-962EF6B40440}"/>
              </a:ext>
            </a:extLst>
          </p:cNvPr>
          <p:cNvSpPr/>
          <p:nvPr/>
        </p:nvSpPr>
        <p:spPr>
          <a:xfrm>
            <a:off x="3442742" y="1635646"/>
            <a:ext cx="2088232" cy="151216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Code</a:t>
            </a:r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61E7784-2EF7-3EC8-0C9E-94D40F911199}"/>
              </a:ext>
            </a:extLst>
          </p:cNvPr>
          <p:cNvSpPr/>
          <p:nvPr/>
        </p:nvSpPr>
        <p:spPr>
          <a:xfrm>
            <a:off x="395536" y="1635646"/>
            <a:ext cx="2088232" cy="151216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  <a:endParaRPr lang="en-CA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A074E63-ECFF-99C5-2A6E-80B08709B1F4}"/>
              </a:ext>
            </a:extLst>
          </p:cNvPr>
          <p:cNvSpPr/>
          <p:nvPr/>
        </p:nvSpPr>
        <p:spPr>
          <a:xfrm>
            <a:off x="6444208" y="1635646"/>
            <a:ext cx="2088232" cy="151216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  <a:endParaRPr lang="en-CA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42CD640-250C-148F-A400-C74A6FAFFA06}"/>
              </a:ext>
            </a:extLst>
          </p:cNvPr>
          <p:cNvSpPr/>
          <p:nvPr/>
        </p:nvSpPr>
        <p:spPr>
          <a:xfrm>
            <a:off x="2562548" y="2128974"/>
            <a:ext cx="886966" cy="57606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8C7E3D05-A11C-FD39-D513-95EFD5DB0DA4}"/>
              </a:ext>
            </a:extLst>
          </p:cNvPr>
          <p:cNvSpPr/>
          <p:nvPr/>
        </p:nvSpPr>
        <p:spPr>
          <a:xfrm>
            <a:off x="5569074" y="2103698"/>
            <a:ext cx="886966" cy="57606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289608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12" name="Picture 2" descr="http://images2.fanpop.com/images/photos/3200000/Professor-Farnsworth-futurama-3295264-1024-768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089" y="250032"/>
            <a:ext cx="7862887" cy="44231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ounded Rectangular Callout 4"/>
          <p:cNvSpPr>
            <a:spLocks noChangeArrowheads="1"/>
          </p:cNvSpPr>
          <p:nvPr/>
        </p:nvSpPr>
        <p:spPr bwMode="auto">
          <a:xfrm>
            <a:off x="827088" y="878682"/>
            <a:ext cx="3702050" cy="903685"/>
          </a:xfrm>
          <a:prstGeom prst="wedgeRoundRectCallout">
            <a:avLst>
              <a:gd name="adj1" fmla="val 67755"/>
              <a:gd name="adj2" fmla="val 125625"/>
              <a:gd name="adj3" fmla="val 16667"/>
            </a:avLst>
          </a:prstGeom>
          <a:solidFill>
            <a:schemeClr val="tx1"/>
          </a:solidFill>
          <a:ln w="19050" algn="ctr">
            <a:solidFill>
              <a:schemeClr val="bg1"/>
            </a:solidFill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CA" sz="2400">
                <a:solidFill>
                  <a:srgbClr val="000000"/>
                </a:solidFill>
                <a:latin typeface="Corbel" pitchFamily="34" charset="0"/>
              </a:rPr>
              <a:t>Good news, everyone!</a:t>
            </a:r>
          </a:p>
          <a:p>
            <a:pPr algn="ctr"/>
            <a:r>
              <a:rPr lang="en-CA" sz="2400">
                <a:solidFill>
                  <a:srgbClr val="000000"/>
                </a:solidFill>
                <a:latin typeface="Corbel" pitchFamily="34" charset="0"/>
              </a:rPr>
              <a:t>We’re going to code now!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>
                <a:solidFill>
                  <a:schemeClr val="tx2">
                    <a:satMod val="200000"/>
                  </a:schemeClr>
                </a:solidFill>
              </a:rPr>
              <a:t>And now…</a:t>
            </a:r>
            <a:endParaRPr lang="en-CA">
              <a:solidFill>
                <a:schemeClr val="tx2">
                  <a:satMod val="200000"/>
                </a:schemeClr>
              </a:solidFill>
            </a:endParaRPr>
          </a:p>
        </p:txBody>
      </p:sp>
      <p:sp>
        <p:nvSpPr>
          <p:cNvPr id="1300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04" y="1059582"/>
            <a:ext cx="8856984" cy="3869699"/>
          </a:xfrm>
        </p:spPr>
        <p:txBody>
          <a:bodyPr/>
          <a:lstStyle/>
          <a:p>
            <a:pPr eaLnBrk="1" hangingPunct="1"/>
            <a:r>
              <a:rPr lang="en-US" sz="2000" dirty="0"/>
              <a:t>…enough goofing around…</a:t>
            </a:r>
          </a:p>
          <a:p>
            <a:pPr eaLnBrk="1" hangingPunct="1"/>
            <a:r>
              <a:rPr lang="en-US" sz="2000" dirty="0"/>
              <a:t>Ladies and Gentlemen, start your Browser and Visual Studio.</a:t>
            </a:r>
          </a:p>
          <a:p>
            <a:pPr eaLnBrk="1" hangingPunct="1"/>
            <a:r>
              <a:rPr lang="en-US" sz="2000" dirty="0"/>
              <a:t>We’re going to get some OpenGL code, get it running, and go from there. </a:t>
            </a:r>
          </a:p>
          <a:p>
            <a:pPr eaLnBrk="1" hangingPunct="1"/>
            <a:r>
              <a:rPr lang="en-US" sz="2000" dirty="0"/>
              <a:t>While we are doing that, I’ll start explaining “what is OpenGL”</a:t>
            </a:r>
          </a:p>
          <a:p>
            <a:pPr lvl="1" eaLnBrk="1" hangingPunct="1"/>
            <a:endParaRPr lang="en-US" sz="1600" dirty="0"/>
          </a:p>
          <a:p>
            <a:pPr lvl="1" eaLnBrk="1" hangingPunct="1"/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1300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1300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1300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14" dur="80"/>
                                        <p:tgtEl>
                                          <p:spTgt spid="1300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15" dur="80"/>
                                        <p:tgtEl>
                                          <p:spTgt spid="1300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80"/>
                                        <p:tgtEl>
                                          <p:spTgt spid="1300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21" dur="80"/>
                                        <p:tgtEl>
                                          <p:spTgt spid="1300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22" dur="80"/>
                                        <p:tgtEl>
                                          <p:spTgt spid="1300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3" dur="80"/>
                                        <p:tgtEl>
                                          <p:spTgt spid="1300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28" dur="80"/>
                                        <p:tgtEl>
                                          <p:spTgt spid="1300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29" dur="80"/>
                                        <p:tgtEl>
                                          <p:spTgt spid="1300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80"/>
                                        <p:tgtEl>
                                          <p:spTgt spid="1300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051" grpId="0" uiExpand="1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roducingPowerPoint2007">
  <a:themeElements>
    <a:clrScheme name="Urban">
      <a:dk1>
        <a:sysClr val="windowText" lastClr="000000"/>
      </a:dk1>
      <a:lt1>
        <a:sysClr val="window" lastClr="FFFFFF"/>
      </a:lt1>
      <a:dk2>
        <a:srgbClr val="424456"/>
      </a:dk2>
      <a:lt2>
        <a:srgbClr val="DEDEDE"/>
      </a:lt2>
      <a:accent1>
        <a:srgbClr val="53548A"/>
      </a:accent1>
      <a:accent2>
        <a:srgbClr val="438086"/>
      </a:accent2>
      <a:accent3>
        <a:srgbClr val="A04DA3"/>
      </a:accent3>
      <a:accent4>
        <a:srgbClr val="C4652D"/>
      </a:accent4>
      <a:accent5>
        <a:srgbClr val="8B5D3D"/>
      </a:accent5>
      <a:accent6>
        <a:srgbClr val="5C92B5"/>
      </a:accent6>
      <a:hlink>
        <a:srgbClr val="67AFBD"/>
      </a:hlink>
      <a:folHlink>
        <a:srgbClr val="C2A874"/>
      </a:folHlink>
    </a:clrScheme>
    <a:fontScheme name="Aspect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bg1">
                <a:shade val="100000"/>
                <a:satMod val="150000"/>
              </a:schemeClr>
            </a:gs>
            <a:gs pos="65000">
              <a:schemeClr val="bg1">
                <a:shade val="90000"/>
                <a:satMod val="375000"/>
              </a:schemeClr>
            </a:gs>
            <a:gs pos="100000">
              <a:schemeClr val="phClr">
                <a:tint val="88000"/>
                <a:satMod val="40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53000"/>
                <a:satMod val="200000"/>
              </a:schemeClr>
              <a:schemeClr val="phClr">
                <a:tint val="78000"/>
                <a:satMod val="230000"/>
              </a:schemeClr>
            </a:duotone>
          </a:blip>
          <a:tile tx="0" ty="0" sx="90000" sy="90000" flip="none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0000"/>
                <a:satMod val="155000"/>
              </a:schemeClr>
            </a:gs>
            <a:gs pos="65000">
              <a:schemeClr val="phClr">
                <a:shade val="85000"/>
                <a:satMod val="155000"/>
              </a:schemeClr>
            </a:gs>
            <a:gs pos="100000">
              <a:schemeClr val="phClr">
                <a:shade val="95000"/>
                <a:satMod val="155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algn="tl" rotWithShape="0">
              <a:srgbClr val="000000">
                <a:alpha val="64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prstMaterial="matte">
            <a:bevelT h="22225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0000"/>
                <a:satMod val="155000"/>
              </a:schemeClr>
            </a:gs>
            <a:gs pos="35000">
              <a:schemeClr val="phClr">
                <a:shade val="75000"/>
                <a:satMod val="155000"/>
              </a:schemeClr>
            </a:gs>
            <a:gs pos="100000">
              <a:schemeClr val="phClr">
                <a:tint val="80000"/>
                <a:satMod val="255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18e3202-6cce-4505-afd4-abd207daa626}" enabled="0" method="" siteId="{018e3202-6cce-4505-afd4-abd207daa62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2196</Words>
  <Application>Microsoft Office PowerPoint</Application>
  <PresentationFormat>On-screen Show (16:9)</PresentationFormat>
  <Paragraphs>209</Paragraphs>
  <Slides>30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0" baseType="lpstr">
      <vt:lpstr>Arial</vt:lpstr>
      <vt:lpstr>Blackadder ITC</vt:lpstr>
      <vt:lpstr>Calibri</vt:lpstr>
      <vt:lpstr>Corbel</vt:lpstr>
      <vt:lpstr>Impact</vt:lpstr>
      <vt:lpstr>Verdana</vt:lpstr>
      <vt:lpstr>Wingdings</vt:lpstr>
      <vt:lpstr>Wingdings 2</vt:lpstr>
      <vt:lpstr>Wingdings 3</vt:lpstr>
      <vt:lpstr>IntroducingPowerPoint2007</vt:lpstr>
      <vt:lpstr>INFO3111: C++ 3D Graphics</vt:lpstr>
      <vt:lpstr>Course Flow</vt:lpstr>
      <vt:lpstr>What’s this course about?</vt:lpstr>
      <vt:lpstr>What’s this course about?</vt:lpstr>
      <vt:lpstr>3D!!  OpenGL!!!  C++!!! SWEET, dude!</vt:lpstr>
      <vt:lpstr>What do you need?</vt:lpstr>
      <vt:lpstr>Some suggested books (OpenGL)</vt:lpstr>
      <vt:lpstr>These are good books, too…</vt:lpstr>
      <vt:lpstr>Two sections:</vt:lpstr>
      <vt:lpstr>What you should know (or will know, soon)</vt:lpstr>
      <vt:lpstr>PowerPoint Presentation</vt:lpstr>
      <vt:lpstr>But I’m, like, SUPER IMPATIENT, man!!!</vt:lpstr>
      <vt:lpstr>This is Glenn Gould &amp; Oscar Peterson</vt:lpstr>
      <vt:lpstr>Or how about Bobby Orr or Wayne Gretzky?</vt:lpstr>
      <vt:lpstr>Simple, but no simpler…</vt:lpstr>
      <vt:lpstr>Commercial graphics APIs…  (DirectX, OpenGL, Vulkan, Metal, etc.)</vt:lpstr>
      <vt:lpstr>What’s this course not about (1/3)?</vt:lpstr>
      <vt:lpstr>What’s this course not about (3/3)?</vt:lpstr>
      <vt:lpstr>Whatever is really in use, currently</vt:lpstr>
      <vt:lpstr>Other things</vt:lpstr>
      <vt:lpstr>chatGPT, etc. : Here’s The Deal</vt:lpstr>
      <vt:lpstr>PowerPoint Presentation</vt:lpstr>
      <vt:lpstr>Your marks…</vt:lpstr>
      <vt:lpstr>Checkpoints: 10%</vt:lpstr>
      <vt:lpstr>2 Projects: 15% each</vt:lpstr>
      <vt:lpstr>2 Exams: 30% each</vt:lpstr>
      <vt:lpstr>“Part marks”</vt:lpstr>
      <vt:lpstr>PowerPoint Presentation</vt:lpstr>
      <vt:lpstr>PowerPoint Presentation</vt:lpstr>
      <vt:lpstr>And now…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/>
  <cp:lastModifiedBy/>
  <cp:revision>45</cp:revision>
  <dcterms:created xsi:type="dcterms:W3CDTF">2011-05-11T12:50:12Z</dcterms:created>
  <dcterms:modified xsi:type="dcterms:W3CDTF">2026-05-06T18:54:10Z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LCID">
    <vt:i4>1033</vt:i4>
  </property>
  <property fmtid="{D5CDD505-2E9C-101B-9397-08002B2CF9AE}" pid="3" name="_Version">
    <vt:lpwstr>12.0.4518</vt:lpwstr>
  </property>
</Properties>
</file>